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2ca4e6-534f-ff57-a71e-cec05eb51774}">
          <p14:sldIdLst>
            <p14:sldId id="256"/>
            <p14:sldId id="257"/>
            <p14:sldId id="258"/>
          </p14:sldIdLst>
        </p14:section>
        <p14:section name="Neo — Backend" id="{83af841c-d6e9-d9ab-d25b-0873d02e17eb}">
          <p14:sldIdLst>
            <p14:sldId id="259"/>
            <p14:sldId id="260"/>
            <p14:sldId id="261"/>
            <p14:sldId id="262"/>
          </p14:sldIdLst>
        </p14:section>
        <p14:section name="Hlayiseka — ASP.NET customer" id="{4725a9e4-681a-c831-c4a6-6fa9d0b20b2d}">
          <p14:sldIdLst>
            <p14:sldId id="263"/>
          </p14:sldIdLst>
        </p14:section>
        <p14:section name="Tshepang — ASP.NET staff" id="{4e6a5111-192b-7424-7585-41aa1f8745b9}">
          <p14:sldIdLst>
            <p14:sldId id="264"/>
          </p14:sldIdLst>
        </p14:section>
        <p14:section name="Charmaine — Flutter customer" id="{48bbff3d-b153-439f-d3f1-7a4c9331ab9e}">
          <p14:sldIdLst>
            <p14:sldId id="265"/>
            <p14:sldId id="266"/>
          </p14:sldIdLst>
        </p14:section>
        <p14:section name="Lesedi — Flutter staff" id="{eb8ed8f3-6906-3f85-a7e4-5658cb95d0e2}">
          <p14:sldIdLst>
            <p14:sldId id="267"/>
            <p14:sldId id="268"/>
          </p14:sldIdLst>
        </p14:section>
        <p14:section name="Portia — Testing" id="{96b0778d-43a7-fe86-2524-8cf23c3c87b6}">
          <p14:sldIdLst>
            <p14:sldId id="269"/>
            <p14:sldId id="270"/>
          </p14:sldIdLst>
        </p14:section>
        <p14:section name="Closing" id="{2bb1cd39-292b-891b-b02b-bcd822c2179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1A14"/>
                </a:solidFill>
                <a:latin typeface="+mn-lt"/>
              </a:defRPr>
            </a:pPr>
            <a:r>
              <a:rPr sz="1400" b="0" i="0" u="none" strike="noStrike">
                <a:solidFill>
                  <a:srgbClr val="241A14"/>
                </a:solidFill>
                <a:latin typeface="+mn-lt"/>
              </a:rPr>
              <a:t>Proposed risk scores (likelihood × impact)</a:t>
            </a:r>
          </a:p>
        </c:rich>
      </c:tx>
      <c:layout/>
      <c:overlay val="0"/>
    </c:title>
    <c:autoTitleDeleted val="0"/>
    <c:plotArea>
      <c:layout/>
      <c:barChart>
        <c:barDir val="bar"/>
        <c:grouping val="clustered"/>
        <c:varyColors val="0"/>
        <c:ser>
          <c:idx val="0"/>
          <c:order val="0"/>
          <c:tx>
            <c:strRef>
              <c:f>Sheet1!$B$1</c:f>
              <c:strCache>
                <c:ptCount val="1"/>
                <c:pt idx="0">
                  <c:v>Risk score</c:v>
                </c:pt>
              </c:strCache>
            </c:strRef>
          </c:tx>
          <c:spPr>
            <a:solidFill>
              <a:srgbClr val="E8590C"/>
            </a:solidFill>
            <a:effectLst/>
          </c:spPr>
          <c:invertIfNegative val="0"/>
          <c:dLbls>
            <c:numFmt formatCode="#,##0" sourceLinked="0"/>
            <c:txPr>
              <a:bodyPr/>
              <a:lstStyle/>
              <a:p>
                <a:pPr>
                  <a:defRPr b="0" i="0" strike="noStrike" sz="1200" u="none">
                    <a:solidFill>
                      <a:srgbClr val="241A14"/>
                    </a:solidFill>
                    <a:latin typeface="+mn-lt"/>
                  </a:defRPr>
                </a:pPr>
              </a:p>
            </c:txPr>
            <c:showLegendKey val="0"/>
            <c:showVal val="1"/>
            <c:showCatName val="0"/>
            <c:showSerName val="0"/>
            <c:showPercent val="0"/>
            <c:showBubbleSize val="0"/>
            <c:showLeaderLines val="0"/>
          </c:dLbls>
          <c:cat>
            <c:multiLvlStrRef>
              <c:f>Sheet1!$A$2:$A$6</c:f>
              <c:multiLvlStrCache>
                <c:ptCount val="5"/>
                <c:lvl>
                  <c:pt idx="0">
                    <c:v>R-07 Time</c:v>
                  </c:pt>
                  <c:pt idx="1">
                    <c:v>R-08 Credentials</c:v>
                  </c:pt>
                  <c:pt idx="2">
                    <c:v>R-02 Contribution</c:v>
                  </c:pt>
                  <c:pt idx="3">
                    <c:v>R-03 Real-time</c:v>
                  </c:pt>
                  <c:pt idx="4">
                    <c:v>R-11 Divergence</c:v>
                  </c:pt>
                </c:lvl>
              </c:multiLvlStrCache>
            </c:multiLvlStrRef>
          </c:cat>
          <c:val>
            <c:numRef>
              <c:f>Sheet1!$B$2:$B$6</c:f>
              <c:numCache>
                <c:formatCode>General</c:formatCode>
                <c:ptCount val="5"/>
                <c:pt idx="0">
                  <c:v>25</c:v>
                </c:pt>
                <c:pt idx="1">
                  <c:v>20</c:v>
                </c:pt>
                <c:pt idx="2">
                  <c:v>15</c:v>
                </c:pt>
                <c:pt idx="3">
                  <c:v>10</c:v>
                </c:pt>
                <c:pt idx="4">
                  <c:v>9</c:v>
                </c:pt>
              </c:numCache>
            </c:numRef>
          </c:val>
        </c:ser>
        <c:dLbls>
          <c:numFmt formatCode="#,##0" sourceLinked="0"/>
          <c:txPr>
            <a:bodyPr/>
            <a:lstStyle/>
            <a:p>
              <a:pPr>
                <a:defRPr b="0" i="0" strike="noStrike" sz="1200" u="none">
                  <a:solidFill>
                    <a:srgbClr val="241A1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1A14"/>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group stands. Neo opens (about 1 minute): this is the Phase 3 presentation. In Phase 2 we designed the system; in Phase 3 we built it. Each of us presents the part we own. Total time about 35 minutes including demos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1 minute. Each slot is about 5 minutes including a live demo. The order follows the data: backend first, then the two web areas, then the two phone dashboards, then testing and the stakeholder. Everyone must be able to explain every file they pushed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The numbers are from the code we are about to push. Be clear that all of it is built but testing is the next step: slide 14 shows the plan. Four dashboards sit on two apps and one shared Supabase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Walk left to right. Flutter talks to Supabase through the Supabase client, so row-level security applies to every request. The ASP.NET web app connects to Postgres directly and uses Supabase Auth over HTTPS, so for the web app the role checks live in the controllers. That is change CL-05 and it is why test TC-09 exists. Live updates: Flutter uses Realtime with a 5 second timer as a fallback; the web polls every 4 to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Honest slide: the build differs from the Phase 2 documents in these ways and each one is logged as a change (CL-05 to CL-13) in the SRS. Do not skip the first row: the web app bypasses row-level security, which is why we test every staff route with a customer account. Ask Doja about the new staff features at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Prices and totals are calculated inside place_order, so a modified app cannot send its own price. The role is always Customer when an account is created; staff are promoted by a script. Demo: show a customer account failing to read another customer’s order (test TC-08).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On 22 October we found the Supabase database password in plain text in the ASP.NET appsettings.json, which .gitignore did not exclude. Say what you did, not the password. Steps: reset the password first because the old one was in shared files; remove it from the file; load from User Secrets; check Git history; finally test TC-15 searches the repository for secrets. Update this slide with the real outcome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Hlayiseka. Demo on the website: open the home page, browse and search the menu, add to cart, check out as a guest with a name, see Order received, then watch the status change when staff update it (the page refreshes every 5 seconds). Then log in as a registered customer and show history and Order again. Mention the Forgot password decision (CL-09): the Flutter app has it, the web code we have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Tshepang. Demo: log in on the Staff tab, show the incoming board, start an order, then the kitchen queue to mark it Ready and Collected. Then log in as manager: edit a menu item, mark one sold out, open the Sales overview. Finish with the ERD slide point: the real schema has a role column instead of the roles table and a Cancelled status, so we are redrawing the 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Charmaine. Demo on a phone or emulator: Explore Menu as a guest, add items, checkout, Track Order, then show the order on the web staff board within about 5 seconds. Show Register and Forgot password (6-digit emailed code). Point out that the app uses the public anon key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Charmaine. The Phase 2 contributors page showed 14 commits from one member and 1 to 4 from the others. For Phase 3 each member works on their own branch with at least 4 commits on at least 2 days, and a pull request that another member reviews. Show the final folder layout and the release tag v1.0-prototype. Update the layout once the restructure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Lesedi. Demo: log in on the Staff tab, show Incoming orders and start one, then the Kitchen queue. Then the manager login: add a menu item and mark one sold out. Mention the shift timer and Take a break. Tie back to the use case diagram: Manager inherits every Staff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Lesedi. This is the traceability matrix: the full version for FR-01 to FR-12 is in SRS Section 31 and docs/design/traceability-matrix.md. Pick two rows and trace them from use case to screen to code. All statuses mean built, test pending, until Portia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Portia. Add the real result to each row before presenting: Pass, Fail with the problem log number, or Not run. The first two rows decide whether risk R-03 (real-time integration) can be closed. Show a screen recording of TC-05. Do not show a result that was not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Portia. Left: what we will show Doja and the decisions we need from him; add his actual feedback after the session. Right: the proposed risk scores (likelihood times impact, 1 to 5 each). R-08 is high because of the credential finding and drops once the password is reset and TC-15 passes. R-07 stays high: eight days left. Also tell the panel we will reconcile Section 25 of the SRS with the tracker on whether Doja asked for wording changes on 20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 or whole group, 2 minutes. Walk the timeline. The blocking item is the credential fix because nobody can push safely until it is done. Dates are proposed in SRS Section 37 and depend on Doja’s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group. Take questions; each member answers about their own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beef_ribs.jpg">    </p:cNvPr>
          <p:cNvPicPr>
            <a:picLocks noChangeAspect="1"/>
          </p:cNvPicPr>
          <p:nvPr/>
        </p:nvPicPr>
        <p:blipFill>
          <a:blip r:embed="rId1"/>
          <a:srcRect l="0" r="0" t="0" b="0"/>
          <a:stretch/>
        </p:blipFill>
        <p:spPr>
          <a:xfrm>
            <a:off x="6949440" y="0"/>
            <a:ext cx="5239512" cy="6858000"/>
          </a:xfrm>
          <a:prstGeom prst="rect">
            <a:avLst/>
          </a:prstGeom>
        </p:spPr>
      </p:pic>
      <p:sp>
        <p:nvSpPr>
          <p:cNvPr id="3" name="Text 0"/>
          <p:cNvSpPr txBox="1"/>
          <p:nvPr/>
        </p:nvSpPr>
        <p:spPr>
          <a:xfrm>
            <a:off x="640080" y="1188720"/>
            <a:ext cx="6035040" cy="54864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PHASE 3  ·  PROTOTYPE DEVELOPMENT, INTEGRATION AND EVALUATION</a:t>
            </a:r>
            <a:endParaRPr lang="en-US" sz="1300" dirty="0"/>
          </a:p>
        </p:txBody>
      </p:sp>
      <p:sp>
        <p:nvSpPr>
          <p:cNvPr id="4" name="Text 1"/>
          <p:cNvSpPr txBox="1"/>
          <p:nvPr/>
        </p:nvSpPr>
        <p:spPr>
          <a:xfrm>
            <a:off x="640080" y="1828800"/>
            <a:ext cx="603504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Nama Nameng</a:t>
            </a:r>
            <a:endParaRPr lang="en-US" sz="5400" dirty="0"/>
          </a:p>
        </p:txBody>
      </p:sp>
      <p:sp>
        <p:nvSpPr>
          <p:cNvPr id="5" name="Text 2"/>
          <p:cNvSpPr txBox="1"/>
          <p:nvPr/>
        </p:nvSpPr>
        <p:spPr>
          <a:xfrm>
            <a:off x="640080" y="2880360"/>
            <a:ext cx="5852160" cy="9144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A mobile and web-based ordering, payment and queue management system</a:t>
            </a:r>
            <a:endParaRPr lang="en-US" sz="2000" dirty="0"/>
          </a:p>
        </p:txBody>
      </p:sp>
      <p:sp>
        <p:nvSpPr>
          <p:cNvPr id="6" name="Text 3"/>
          <p:cNvSpPr txBox="1"/>
          <p:nvPr/>
        </p:nvSpPr>
        <p:spPr>
          <a:xfrm>
            <a:off x="640080" y="4937760"/>
            <a:ext cx="6035040" cy="8229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Group 4 — Digital Vanguard  |  ITC327W · Diploma in Information Technology</a:t>
            </a:r>
            <a:endParaRPr lang="en-US" sz="1400" dirty="0"/>
          </a:p>
          <a:p>
            <a:pPr indent="0" marL="0">
              <a:buNone/>
            </a:pPr>
            <a:r>
              <a:rPr lang="en-US" sz="1400" dirty="0">
                <a:solidFill>
                  <a:schemeClr val="accent4"/>
                </a:solidFill>
                <a:latin typeface="Calibri" pitchFamily="34" charset="0"/>
                <a:ea typeface="Calibri" pitchFamily="34" charset="-122"/>
                <a:cs typeface="Calibri" pitchFamily="34" charset="-120"/>
              </a:rPr>
              <a:t>External stakeholder: Nama Nameng (Chisa Nyama) — Owner: Doja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TODAY’S PRESENTATION</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Six portfolios, six presenters</a:t>
            </a:r>
            <a:endParaRPr lang="en-US" sz="3400" dirty="0"/>
          </a:p>
        </p:txBody>
      </p:sp>
      <p:sp>
        <p:nvSpPr>
          <p:cNvPr id="5" name="Shape 2"/>
          <p:cNvSpPr/>
          <p:nvPr/>
        </p:nvSpPr>
        <p:spPr>
          <a:xfrm>
            <a:off x="548640" y="1737360"/>
            <a:ext cx="3520440" cy="2011680"/>
          </a:xfrm>
          <a:prstGeom prst="roundRect">
            <a:avLst>
              <a:gd name="adj" fmla="val 5455"/>
            </a:avLst>
          </a:prstGeom>
          <a:solidFill>
            <a:schemeClr val="bg2"/>
          </a:solidFill>
          <a:ln w="12700">
            <a:solidFill>
              <a:schemeClr val="bg2"/>
            </a:solidFill>
            <a:prstDash val="solid"/>
          </a:ln>
        </p:spPr>
      </p:sp>
      <p:sp>
        <p:nvSpPr>
          <p:cNvPr id="6" name="Shape 3"/>
          <p:cNvSpPr/>
          <p:nvPr/>
        </p:nvSpPr>
        <p:spPr>
          <a:xfrm>
            <a:off x="822960" y="2011680"/>
            <a:ext cx="640080" cy="640080"/>
          </a:xfrm>
          <a:prstGeom prst="ellipse">
            <a:avLst/>
          </a:prstGeom>
          <a:solidFill>
            <a:schemeClr val="accent1"/>
          </a:solidFill>
          <a:ln w="12700">
            <a:solidFill>
              <a:schemeClr val="accent1"/>
            </a:solidFill>
            <a:prstDash val="solid"/>
          </a:ln>
        </p:spPr>
      </p:sp>
      <p:sp>
        <p:nvSpPr>
          <p:cNvPr id="7" name="Text 4"/>
          <p:cNvSpPr txBox="1"/>
          <p:nvPr/>
        </p:nvSpPr>
        <p:spPr>
          <a:xfrm>
            <a:off x="822960" y="20116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822960" y="278892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Neo Lekhelebana</a:t>
            </a:r>
            <a:endParaRPr lang="en-US" sz="1900" dirty="0"/>
          </a:p>
        </p:txBody>
      </p:sp>
      <p:sp>
        <p:nvSpPr>
          <p:cNvPr id="9" name="Text 6"/>
          <p:cNvSpPr txBox="1"/>
          <p:nvPr/>
        </p:nvSpPr>
        <p:spPr>
          <a:xfrm>
            <a:off x="822960" y="320040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Supabase backend and security</a:t>
            </a:r>
            <a:endParaRPr lang="en-US" sz="1400" dirty="0"/>
          </a:p>
        </p:txBody>
      </p:sp>
      <p:sp>
        <p:nvSpPr>
          <p:cNvPr id="10" name="Shape 7"/>
          <p:cNvSpPr/>
          <p:nvPr/>
        </p:nvSpPr>
        <p:spPr>
          <a:xfrm>
            <a:off x="4297680" y="1737360"/>
            <a:ext cx="3520440" cy="2011680"/>
          </a:xfrm>
          <a:prstGeom prst="roundRect">
            <a:avLst>
              <a:gd name="adj" fmla="val 5455"/>
            </a:avLst>
          </a:prstGeom>
          <a:solidFill>
            <a:schemeClr val="bg2"/>
          </a:solidFill>
          <a:ln w="12700">
            <a:solidFill>
              <a:schemeClr val="bg2"/>
            </a:solidFill>
            <a:prstDash val="solid"/>
          </a:ln>
        </p:spPr>
      </p:sp>
      <p:sp>
        <p:nvSpPr>
          <p:cNvPr id="11" name="Shape 8"/>
          <p:cNvSpPr/>
          <p:nvPr/>
        </p:nvSpPr>
        <p:spPr>
          <a:xfrm>
            <a:off x="4572000" y="2011680"/>
            <a:ext cx="640080" cy="640080"/>
          </a:xfrm>
          <a:prstGeom prst="ellipse">
            <a:avLst/>
          </a:prstGeom>
          <a:solidFill>
            <a:schemeClr val="accent1"/>
          </a:solidFill>
          <a:ln w="12700">
            <a:solidFill>
              <a:schemeClr val="accent1"/>
            </a:solidFill>
            <a:prstDash val="solid"/>
          </a:ln>
        </p:spPr>
      </p:sp>
      <p:sp>
        <p:nvSpPr>
          <p:cNvPr id="12" name="Text 9"/>
          <p:cNvSpPr txBox="1"/>
          <p:nvPr/>
        </p:nvSpPr>
        <p:spPr>
          <a:xfrm>
            <a:off x="4572000" y="20116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13" name="Text 10"/>
          <p:cNvSpPr txBox="1"/>
          <p:nvPr/>
        </p:nvSpPr>
        <p:spPr>
          <a:xfrm>
            <a:off x="4572000" y="278892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Hlayiseka Matsimbi</a:t>
            </a:r>
            <a:endParaRPr lang="en-US" sz="1900" dirty="0"/>
          </a:p>
        </p:txBody>
      </p:sp>
      <p:sp>
        <p:nvSpPr>
          <p:cNvPr id="14" name="Text 11"/>
          <p:cNvSpPr txBox="1"/>
          <p:nvPr/>
        </p:nvSpPr>
        <p:spPr>
          <a:xfrm>
            <a:off x="4572000" y="320040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ASP.NET customer web</a:t>
            </a:r>
            <a:endParaRPr lang="en-US" sz="1400" dirty="0"/>
          </a:p>
        </p:txBody>
      </p:sp>
      <p:sp>
        <p:nvSpPr>
          <p:cNvPr id="15" name="Shape 12"/>
          <p:cNvSpPr/>
          <p:nvPr/>
        </p:nvSpPr>
        <p:spPr>
          <a:xfrm>
            <a:off x="8046720" y="1737360"/>
            <a:ext cx="3520440" cy="2011680"/>
          </a:xfrm>
          <a:prstGeom prst="roundRect">
            <a:avLst>
              <a:gd name="adj" fmla="val 5455"/>
            </a:avLst>
          </a:prstGeom>
          <a:solidFill>
            <a:schemeClr val="bg2"/>
          </a:solidFill>
          <a:ln w="12700">
            <a:solidFill>
              <a:schemeClr val="bg2"/>
            </a:solidFill>
            <a:prstDash val="solid"/>
          </a:ln>
        </p:spPr>
      </p:sp>
      <p:sp>
        <p:nvSpPr>
          <p:cNvPr id="16" name="Shape 13"/>
          <p:cNvSpPr/>
          <p:nvPr/>
        </p:nvSpPr>
        <p:spPr>
          <a:xfrm>
            <a:off x="8321040" y="2011680"/>
            <a:ext cx="640080" cy="640080"/>
          </a:xfrm>
          <a:prstGeom prst="ellipse">
            <a:avLst/>
          </a:prstGeom>
          <a:solidFill>
            <a:schemeClr val="accent1"/>
          </a:solidFill>
          <a:ln w="12700">
            <a:solidFill>
              <a:schemeClr val="accent1"/>
            </a:solidFill>
            <a:prstDash val="solid"/>
          </a:ln>
        </p:spPr>
      </p:sp>
      <p:sp>
        <p:nvSpPr>
          <p:cNvPr id="17" name="Text 14"/>
          <p:cNvSpPr txBox="1"/>
          <p:nvPr/>
        </p:nvSpPr>
        <p:spPr>
          <a:xfrm>
            <a:off x="8321040" y="20116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8" name="Text 15"/>
          <p:cNvSpPr txBox="1"/>
          <p:nvPr/>
        </p:nvSpPr>
        <p:spPr>
          <a:xfrm>
            <a:off x="8321040" y="278892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Tshepang Morake</a:t>
            </a:r>
            <a:endParaRPr lang="en-US" sz="1900" dirty="0"/>
          </a:p>
        </p:txBody>
      </p:sp>
      <p:sp>
        <p:nvSpPr>
          <p:cNvPr id="19" name="Text 16"/>
          <p:cNvSpPr txBox="1"/>
          <p:nvPr/>
        </p:nvSpPr>
        <p:spPr>
          <a:xfrm>
            <a:off x="8321040" y="320040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ASP.NET staff and manager portal</a:t>
            </a:r>
            <a:endParaRPr lang="en-US" sz="1400" dirty="0"/>
          </a:p>
        </p:txBody>
      </p:sp>
      <p:sp>
        <p:nvSpPr>
          <p:cNvPr id="20" name="Shape 17"/>
          <p:cNvSpPr/>
          <p:nvPr/>
        </p:nvSpPr>
        <p:spPr>
          <a:xfrm>
            <a:off x="548640" y="3977640"/>
            <a:ext cx="3520440" cy="2011680"/>
          </a:xfrm>
          <a:prstGeom prst="roundRect">
            <a:avLst>
              <a:gd name="adj" fmla="val 5455"/>
            </a:avLst>
          </a:prstGeom>
          <a:solidFill>
            <a:schemeClr val="bg2"/>
          </a:solidFill>
          <a:ln w="12700">
            <a:solidFill>
              <a:schemeClr val="bg2"/>
            </a:solidFill>
            <a:prstDash val="solid"/>
          </a:ln>
        </p:spPr>
      </p:sp>
      <p:sp>
        <p:nvSpPr>
          <p:cNvPr id="21" name="Shape 18"/>
          <p:cNvSpPr/>
          <p:nvPr/>
        </p:nvSpPr>
        <p:spPr>
          <a:xfrm>
            <a:off x="822960" y="4251960"/>
            <a:ext cx="640080" cy="640080"/>
          </a:xfrm>
          <a:prstGeom prst="ellipse">
            <a:avLst/>
          </a:prstGeom>
          <a:solidFill>
            <a:schemeClr val="accent1"/>
          </a:solidFill>
          <a:ln w="12700">
            <a:solidFill>
              <a:schemeClr val="accent1"/>
            </a:solidFill>
            <a:prstDash val="solid"/>
          </a:ln>
        </p:spPr>
      </p:sp>
      <p:sp>
        <p:nvSpPr>
          <p:cNvPr id="22" name="Text 19"/>
          <p:cNvSpPr txBox="1"/>
          <p:nvPr/>
        </p:nvSpPr>
        <p:spPr>
          <a:xfrm>
            <a:off x="822960" y="42519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4</a:t>
            </a:r>
            <a:endParaRPr lang="en-US" sz="2400" dirty="0"/>
          </a:p>
        </p:txBody>
      </p:sp>
      <p:sp>
        <p:nvSpPr>
          <p:cNvPr id="23" name="Text 20"/>
          <p:cNvSpPr txBox="1"/>
          <p:nvPr/>
        </p:nvSpPr>
        <p:spPr>
          <a:xfrm>
            <a:off x="822960" y="502920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Charmaine Mogotsi</a:t>
            </a:r>
            <a:endParaRPr lang="en-US" sz="1900" dirty="0"/>
          </a:p>
        </p:txBody>
      </p:sp>
      <p:sp>
        <p:nvSpPr>
          <p:cNvPr id="24" name="Text 21"/>
          <p:cNvSpPr txBox="1"/>
          <p:nvPr/>
        </p:nvSpPr>
        <p:spPr>
          <a:xfrm>
            <a:off x="822960" y="544068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Flutter customer app and GitHub</a:t>
            </a:r>
            <a:endParaRPr lang="en-US" sz="1400" dirty="0"/>
          </a:p>
        </p:txBody>
      </p:sp>
      <p:sp>
        <p:nvSpPr>
          <p:cNvPr id="25" name="Shape 22"/>
          <p:cNvSpPr/>
          <p:nvPr/>
        </p:nvSpPr>
        <p:spPr>
          <a:xfrm>
            <a:off x="4297680" y="3977640"/>
            <a:ext cx="3520440" cy="2011680"/>
          </a:xfrm>
          <a:prstGeom prst="roundRect">
            <a:avLst>
              <a:gd name="adj" fmla="val 5455"/>
            </a:avLst>
          </a:prstGeom>
          <a:solidFill>
            <a:schemeClr val="bg2"/>
          </a:solidFill>
          <a:ln w="12700">
            <a:solidFill>
              <a:schemeClr val="bg2"/>
            </a:solidFill>
            <a:prstDash val="solid"/>
          </a:ln>
        </p:spPr>
      </p:sp>
      <p:sp>
        <p:nvSpPr>
          <p:cNvPr id="26" name="Shape 23"/>
          <p:cNvSpPr/>
          <p:nvPr/>
        </p:nvSpPr>
        <p:spPr>
          <a:xfrm>
            <a:off x="4572000" y="4251960"/>
            <a:ext cx="640080" cy="640080"/>
          </a:xfrm>
          <a:prstGeom prst="ellipse">
            <a:avLst/>
          </a:prstGeom>
          <a:solidFill>
            <a:schemeClr val="accent1"/>
          </a:solidFill>
          <a:ln w="12700">
            <a:solidFill>
              <a:schemeClr val="accent1"/>
            </a:solidFill>
            <a:prstDash val="solid"/>
          </a:ln>
        </p:spPr>
      </p:sp>
      <p:sp>
        <p:nvSpPr>
          <p:cNvPr id="27" name="Text 24"/>
          <p:cNvSpPr txBox="1"/>
          <p:nvPr/>
        </p:nvSpPr>
        <p:spPr>
          <a:xfrm>
            <a:off x="4572000" y="42519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5</a:t>
            </a:r>
            <a:endParaRPr lang="en-US" sz="2400" dirty="0"/>
          </a:p>
        </p:txBody>
      </p:sp>
      <p:sp>
        <p:nvSpPr>
          <p:cNvPr id="28" name="Text 25"/>
          <p:cNvSpPr txBox="1"/>
          <p:nvPr/>
        </p:nvSpPr>
        <p:spPr>
          <a:xfrm>
            <a:off x="4572000" y="502920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Lesedi Ramolahloane</a:t>
            </a:r>
            <a:endParaRPr lang="en-US" sz="1900" dirty="0"/>
          </a:p>
        </p:txBody>
      </p:sp>
      <p:sp>
        <p:nvSpPr>
          <p:cNvPr id="29" name="Text 26"/>
          <p:cNvSpPr txBox="1"/>
          <p:nvPr/>
        </p:nvSpPr>
        <p:spPr>
          <a:xfrm>
            <a:off x="4572000" y="544068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Flutter staff and manager app</a:t>
            </a:r>
            <a:endParaRPr lang="en-US" sz="1400" dirty="0"/>
          </a:p>
        </p:txBody>
      </p:sp>
      <p:sp>
        <p:nvSpPr>
          <p:cNvPr id="30" name="Shape 27"/>
          <p:cNvSpPr/>
          <p:nvPr/>
        </p:nvSpPr>
        <p:spPr>
          <a:xfrm>
            <a:off x="8046720" y="3977640"/>
            <a:ext cx="3520440" cy="2011680"/>
          </a:xfrm>
          <a:prstGeom prst="roundRect">
            <a:avLst>
              <a:gd name="adj" fmla="val 5455"/>
            </a:avLst>
          </a:prstGeom>
          <a:solidFill>
            <a:schemeClr val="bg2"/>
          </a:solidFill>
          <a:ln w="12700">
            <a:solidFill>
              <a:schemeClr val="bg2"/>
            </a:solidFill>
            <a:prstDash val="solid"/>
          </a:ln>
        </p:spPr>
      </p:sp>
      <p:sp>
        <p:nvSpPr>
          <p:cNvPr id="31" name="Shape 28"/>
          <p:cNvSpPr/>
          <p:nvPr/>
        </p:nvSpPr>
        <p:spPr>
          <a:xfrm>
            <a:off x="8321040" y="4251960"/>
            <a:ext cx="640080" cy="640080"/>
          </a:xfrm>
          <a:prstGeom prst="ellipse">
            <a:avLst/>
          </a:prstGeom>
          <a:solidFill>
            <a:schemeClr val="accent1"/>
          </a:solidFill>
          <a:ln w="12700">
            <a:solidFill>
              <a:schemeClr val="accent1"/>
            </a:solidFill>
            <a:prstDash val="solid"/>
          </a:ln>
        </p:spPr>
      </p:sp>
      <p:sp>
        <p:nvSpPr>
          <p:cNvPr id="32" name="Text 29"/>
          <p:cNvSpPr txBox="1"/>
          <p:nvPr/>
        </p:nvSpPr>
        <p:spPr>
          <a:xfrm>
            <a:off x="8321040" y="42519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6</a:t>
            </a:r>
            <a:endParaRPr lang="en-US" sz="2400" dirty="0"/>
          </a:p>
        </p:txBody>
      </p:sp>
      <p:sp>
        <p:nvSpPr>
          <p:cNvPr id="33" name="Text 30"/>
          <p:cNvSpPr txBox="1"/>
          <p:nvPr/>
        </p:nvSpPr>
        <p:spPr>
          <a:xfrm>
            <a:off x="8321040" y="5029200"/>
            <a:ext cx="301752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Portia Nkotseng Sefatsa</a:t>
            </a:r>
            <a:endParaRPr lang="en-US" sz="1900" dirty="0"/>
          </a:p>
        </p:txBody>
      </p:sp>
      <p:sp>
        <p:nvSpPr>
          <p:cNvPr id="34" name="Text 31"/>
          <p:cNvSpPr txBox="1"/>
          <p:nvPr/>
        </p:nvSpPr>
        <p:spPr>
          <a:xfrm>
            <a:off x="8321040" y="5440680"/>
            <a:ext cx="301752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Testing and stakeholder evaluation</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WHERE WE ARE</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We went from designs to a working system</a:t>
            </a:r>
            <a:endParaRPr lang="en-US" sz="3400" dirty="0"/>
          </a:p>
        </p:txBody>
      </p:sp>
      <p:sp>
        <p:nvSpPr>
          <p:cNvPr id="5" name="Shape 2"/>
          <p:cNvSpPr/>
          <p:nvPr/>
        </p:nvSpPr>
        <p:spPr>
          <a:xfrm>
            <a:off x="548640" y="1737360"/>
            <a:ext cx="3520440" cy="1874520"/>
          </a:xfrm>
          <a:prstGeom prst="roundRect">
            <a:avLst>
              <a:gd name="adj" fmla="val 5854"/>
            </a:avLst>
          </a:prstGeom>
          <a:solidFill>
            <a:schemeClr val="bg2"/>
          </a:solidFill>
          <a:ln w="12700">
            <a:solidFill>
              <a:schemeClr val="bg2"/>
            </a:solidFill>
            <a:prstDash val="solid"/>
          </a:ln>
        </p:spPr>
      </p:sp>
      <p:sp>
        <p:nvSpPr>
          <p:cNvPr id="6" name="Text 3"/>
          <p:cNvSpPr txBox="1"/>
          <p:nvPr/>
        </p:nvSpPr>
        <p:spPr>
          <a:xfrm>
            <a:off x="822960" y="192024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6</a:t>
            </a:r>
            <a:endParaRPr lang="en-US" sz="4800" dirty="0"/>
          </a:p>
        </p:txBody>
      </p:sp>
      <p:sp>
        <p:nvSpPr>
          <p:cNvPr id="7" name="Text 4"/>
          <p:cNvSpPr txBox="1"/>
          <p:nvPr/>
        </p:nvSpPr>
        <p:spPr>
          <a:xfrm>
            <a:off x="822960" y="283464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database tables</a:t>
            </a:r>
            <a:endParaRPr lang="en-US" sz="1500" dirty="0"/>
          </a:p>
        </p:txBody>
      </p:sp>
      <p:sp>
        <p:nvSpPr>
          <p:cNvPr id="8" name="Shape 5"/>
          <p:cNvSpPr/>
          <p:nvPr/>
        </p:nvSpPr>
        <p:spPr>
          <a:xfrm>
            <a:off x="4297680" y="1737360"/>
            <a:ext cx="3520440" cy="1874520"/>
          </a:xfrm>
          <a:prstGeom prst="roundRect">
            <a:avLst>
              <a:gd name="adj" fmla="val 5854"/>
            </a:avLst>
          </a:prstGeom>
          <a:solidFill>
            <a:schemeClr val="bg2"/>
          </a:solidFill>
          <a:ln w="12700">
            <a:solidFill>
              <a:schemeClr val="bg2"/>
            </a:solidFill>
            <a:prstDash val="solid"/>
          </a:ln>
        </p:spPr>
      </p:sp>
      <p:sp>
        <p:nvSpPr>
          <p:cNvPr id="9" name="Text 6"/>
          <p:cNvSpPr txBox="1"/>
          <p:nvPr/>
        </p:nvSpPr>
        <p:spPr>
          <a:xfrm>
            <a:off x="4572000" y="192024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10" name="Text 7"/>
          <p:cNvSpPr txBox="1"/>
          <p:nvPr/>
        </p:nvSpPr>
        <p:spPr>
          <a:xfrm>
            <a:off x="4572000" y="283464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server functions that place orders and change status</a:t>
            </a:r>
            <a:endParaRPr lang="en-US" sz="1500" dirty="0"/>
          </a:p>
        </p:txBody>
      </p:sp>
      <p:sp>
        <p:nvSpPr>
          <p:cNvPr id="11" name="Shape 8"/>
          <p:cNvSpPr/>
          <p:nvPr/>
        </p:nvSpPr>
        <p:spPr>
          <a:xfrm>
            <a:off x="8046720" y="1737360"/>
            <a:ext cx="3520440" cy="1874520"/>
          </a:xfrm>
          <a:prstGeom prst="roundRect">
            <a:avLst>
              <a:gd name="adj" fmla="val 5854"/>
            </a:avLst>
          </a:prstGeom>
          <a:solidFill>
            <a:schemeClr val="bg2"/>
          </a:solidFill>
          <a:ln w="12700">
            <a:solidFill>
              <a:schemeClr val="bg2"/>
            </a:solidFill>
            <a:prstDash val="solid"/>
          </a:ln>
        </p:spPr>
      </p:sp>
      <p:sp>
        <p:nvSpPr>
          <p:cNvPr id="12" name="Text 9"/>
          <p:cNvSpPr txBox="1"/>
          <p:nvPr/>
        </p:nvSpPr>
        <p:spPr>
          <a:xfrm>
            <a:off x="8321040" y="192024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13" name="Text 10"/>
          <p:cNvSpPr txBox="1"/>
          <p:nvPr/>
        </p:nvSpPr>
        <p:spPr>
          <a:xfrm>
            <a:off x="8321040" y="283464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apps: Flutter and ASP.NET</a:t>
            </a:r>
            <a:endParaRPr lang="en-US" sz="1500" dirty="0"/>
          </a:p>
        </p:txBody>
      </p:sp>
      <p:sp>
        <p:nvSpPr>
          <p:cNvPr id="14" name="Shape 11"/>
          <p:cNvSpPr/>
          <p:nvPr/>
        </p:nvSpPr>
        <p:spPr>
          <a:xfrm>
            <a:off x="548640" y="3840480"/>
            <a:ext cx="3520440" cy="1874520"/>
          </a:xfrm>
          <a:prstGeom prst="roundRect">
            <a:avLst>
              <a:gd name="adj" fmla="val 5854"/>
            </a:avLst>
          </a:prstGeom>
          <a:solidFill>
            <a:schemeClr val="bg2"/>
          </a:solidFill>
          <a:ln w="12700">
            <a:solidFill>
              <a:schemeClr val="bg2"/>
            </a:solidFill>
            <a:prstDash val="solid"/>
          </a:ln>
        </p:spPr>
      </p:sp>
      <p:sp>
        <p:nvSpPr>
          <p:cNvPr id="15" name="Text 12"/>
          <p:cNvSpPr txBox="1"/>
          <p:nvPr/>
        </p:nvSpPr>
        <p:spPr>
          <a:xfrm>
            <a:off x="822960" y="402336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a:t>
            </a:r>
            <a:endParaRPr lang="en-US" sz="4800" dirty="0"/>
          </a:p>
        </p:txBody>
      </p:sp>
      <p:sp>
        <p:nvSpPr>
          <p:cNvPr id="16" name="Text 13"/>
          <p:cNvSpPr txBox="1"/>
          <p:nvPr/>
        </p:nvSpPr>
        <p:spPr>
          <a:xfrm>
            <a:off x="822960" y="493776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dashboards: customer and staff, on each app</a:t>
            </a:r>
            <a:endParaRPr lang="en-US" sz="1500" dirty="0"/>
          </a:p>
        </p:txBody>
      </p:sp>
      <p:sp>
        <p:nvSpPr>
          <p:cNvPr id="17" name="Shape 14"/>
          <p:cNvSpPr/>
          <p:nvPr/>
        </p:nvSpPr>
        <p:spPr>
          <a:xfrm>
            <a:off x="4297680" y="3840480"/>
            <a:ext cx="3520440" cy="1874520"/>
          </a:xfrm>
          <a:prstGeom prst="roundRect">
            <a:avLst>
              <a:gd name="adj" fmla="val 5854"/>
            </a:avLst>
          </a:prstGeom>
          <a:solidFill>
            <a:schemeClr val="bg2"/>
          </a:solidFill>
          <a:ln w="12700">
            <a:solidFill>
              <a:schemeClr val="bg2"/>
            </a:solidFill>
            <a:prstDash val="solid"/>
          </a:ln>
        </p:spPr>
      </p:sp>
      <p:sp>
        <p:nvSpPr>
          <p:cNvPr id="18" name="Text 15"/>
          <p:cNvSpPr txBox="1"/>
          <p:nvPr/>
        </p:nvSpPr>
        <p:spPr>
          <a:xfrm>
            <a:off x="4572000" y="402336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~3,100</a:t>
            </a:r>
            <a:endParaRPr lang="en-US" sz="4800" dirty="0"/>
          </a:p>
        </p:txBody>
      </p:sp>
      <p:sp>
        <p:nvSpPr>
          <p:cNvPr id="19" name="Text 16"/>
          <p:cNvSpPr txBox="1"/>
          <p:nvPr/>
        </p:nvSpPr>
        <p:spPr>
          <a:xfrm>
            <a:off x="4572000" y="493776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lines of Dart in the Flutter app</a:t>
            </a:r>
            <a:endParaRPr lang="en-US" sz="1500" dirty="0"/>
          </a:p>
        </p:txBody>
      </p:sp>
      <p:sp>
        <p:nvSpPr>
          <p:cNvPr id="20" name="Shape 17"/>
          <p:cNvSpPr/>
          <p:nvPr/>
        </p:nvSpPr>
        <p:spPr>
          <a:xfrm>
            <a:off x="8046720" y="3840480"/>
            <a:ext cx="3520440" cy="1874520"/>
          </a:xfrm>
          <a:prstGeom prst="roundRect">
            <a:avLst>
              <a:gd name="adj" fmla="val 5854"/>
            </a:avLst>
          </a:prstGeom>
          <a:solidFill>
            <a:schemeClr val="bg2"/>
          </a:solidFill>
          <a:ln w="12700">
            <a:solidFill>
              <a:schemeClr val="bg2"/>
            </a:solidFill>
            <a:prstDash val="solid"/>
          </a:ln>
        </p:spPr>
      </p:sp>
      <p:sp>
        <p:nvSpPr>
          <p:cNvPr id="21" name="Text 18"/>
          <p:cNvSpPr txBox="1"/>
          <p:nvPr/>
        </p:nvSpPr>
        <p:spPr>
          <a:xfrm>
            <a:off x="8321040" y="402336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~900</a:t>
            </a:r>
            <a:endParaRPr lang="en-US" sz="4800" dirty="0"/>
          </a:p>
        </p:txBody>
      </p:sp>
      <p:sp>
        <p:nvSpPr>
          <p:cNvPr id="22" name="Text 19"/>
          <p:cNvSpPr txBox="1"/>
          <p:nvPr/>
        </p:nvSpPr>
        <p:spPr>
          <a:xfrm>
            <a:off x="8321040" y="4937760"/>
            <a:ext cx="301752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lines of ASP.NET controller code</a:t>
            </a:r>
            <a:endParaRPr lang="en-US" sz="15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NEO LEKHELEBANA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One Supabase project serves both apps</a:t>
            </a:r>
            <a:endParaRPr lang="en-US" sz="3400" dirty="0"/>
          </a:p>
        </p:txBody>
      </p:sp>
      <p:sp>
        <p:nvSpPr>
          <p:cNvPr id="5" name="Shape 2"/>
          <p:cNvSpPr/>
          <p:nvPr/>
        </p:nvSpPr>
        <p:spPr>
          <a:xfrm>
            <a:off x="548640" y="1828800"/>
            <a:ext cx="1645920" cy="502920"/>
          </a:xfrm>
          <a:prstGeom prst="roundRect">
            <a:avLst>
              <a:gd name="adj" fmla="val 18182"/>
            </a:avLst>
          </a:prstGeom>
          <a:solidFill>
            <a:schemeClr val="tx2"/>
          </a:solidFill>
          <a:ln w="12700">
            <a:solidFill>
              <a:schemeClr val="tx2"/>
            </a:solidFill>
            <a:prstDash val="solid"/>
          </a:ln>
        </p:spPr>
      </p:sp>
      <p:sp>
        <p:nvSpPr>
          <p:cNvPr id="6" name="Text 3"/>
          <p:cNvSpPr txBox="1"/>
          <p:nvPr/>
        </p:nvSpPr>
        <p:spPr>
          <a:xfrm>
            <a:off x="548640" y="182880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Guest</a:t>
            </a:r>
            <a:endParaRPr lang="en-US" sz="1400" dirty="0"/>
          </a:p>
        </p:txBody>
      </p:sp>
      <p:sp>
        <p:nvSpPr>
          <p:cNvPr id="7" name="Shape 4"/>
          <p:cNvSpPr/>
          <p:nvPr/>
        </p:nvSpPr>
        <p:spPr>
          <a:xfrm>
            <a:off x="548640" y="2834640"/>
            <a:ext cx="1645920" cy="502920"/>
          </a:xfrm>
          <a:prstGeom prst="roundRect">
            <a:avLst>
              <a:gd name="adj" fmla="val 18182"/>
            </a:avLst>
          </a:prstGeom>
          <a:solidFill>
            <a:schemeClr val="tx2"/>
          </a:solidFill>
          <a:ln w="12700">
            <a:solidFill>
              <a:schemeClr val="tx2"/>
            </a:solidFill>
            <a:prstDash val="solid"/>
          </a:ln>
        </p:spPr>
      </p:sp>
      <p:sp>
        <p:nvSpPr>
          <p:cNvPr id="8" name="Text 5"/>
          <p:cNvSpPr txBox="1"/>
          <p:nvPr/>
        </p:nvSpPr>
        <p:spPr>
          <a:xfrm>
            <a:off x="548640" y="283464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Customer</a:t>
            </a:r>
            <a:endParaRPr lang="en-US" sz="1400" dirty="0"/>
          </a:p>
        </p:txBody>
      </p:sp>
      <p:sp>
        <p:nvSpPr>
          <p:cNvPr id="9" name="Shape 6"/>
          <p:cNvSpPr/>
          <p:nvPr/>
        </p:nvSpPr>
        <p:spPr>
          <a:xfrm>
            <a:off x="548640" y="3840480"/>
            <a:ext cx="1645920" cy="502920"/>
          </a:xfrm>
          <a:prstGeom prst="roundRect">
            <a:avLst>
              <a:gd name="adj" fmla="val 18182"/>
            </a:avLst>
          </a:prstGeom>
          <a:solidFill>
            <a:schemeClr val="tx2"/>
          </a:solidFill>
          <a:ln w="12700">
            <a:solidFill>
              <a:schemeClr val="tx2"/>
            </a:solidFill>
            <a:prstDash val="solid"/>
          </a:ln>
        </p:spPr>
      </p:sp>
      <p:sp>
        <p:nvSpPr>
          <p:cNvPr id="10" name="Text 7"/>
          <p:cNvSpPr txBox="1"/>
          <p:nvPr/>
        </p:nvSpPr>
        <p:spPr>
          <a:xfrm>
            <a:off x="548640" y="384048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Staff / Manager</a:t>
            </a:r>
            <a:endParaRPr lang="en-US" sz="1400" dirty="0"/>
          </a:p>
        </p:txBody>
      </p:sp>
      <p:sp>
        <p:nvSpPr>
          <p:cNvPr id="11" name="Shape 8"/>
          <p:cNvSpPr/>
          <p:nvPr/>
        </p:nvSpPr>
        <p:spPr>
          <a:xfrm>
            <a:off x="2926080" y="1645920"/>
            <a:ext cx="2743200" cy="1554480"/>
          </a:xfrm>
          <a:prstGeom prst="roundRect">
            <a:avLst>
              <a:gd name="adj" fmla="val 7059"/>
            </a:avLst>
          </a:prstGeom>
          <a:solidFill>
            <a:schemeClr val="accent1"/>
          </a:solidFill>
          <a:ln w="12700">
            <a:solidFill>
              <a:schemeClr val="accent1"/>
            </a:solidFill>
            <a:prstDash val="solid"/>
          </a:ln>
        </p:spPr>
      </p:sp>
      <p:sp>
        <p:nvSpPr>
          <p:cNvPr id="12" name="Text 9"/>
          <p:cNvSpPr txBox="1"/>
          <p:nvPr/>
        </p:nvSpPr>
        <p:spPr>
          <a:xfrm>
            <a:off x="2926080" y="1920240"/>
            <a:ext cx="2743200"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Flutter app</a:t>
            </a:r>
            <a:endParaRPr lang="en-US" sz="2200" dirty="0"/>
          </a:p>
        </p:txBody>
      </p:sp>
      <p:sp>
        <p:nvSpPr>
          <p:cNvPr id="13" name="Text 10"/>
          <p:cNvSpPr txBox="1"/>
          <p:nvPr/>
        </p:nvSpPr>
        <p:spPr>
          <a:xfrm>
            <a:off x="2926080" y="2423160"/>
            <a:ext cx="2743200" cy="64008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Customer + Staff/Manager</a:t>
            </a:r>
            <a:endParaRPr lang="en-US" sz="1300" dirty="0"/>
          </a:p>
          <a:p>
            <a:pPr algn="ctr" indent="0" marL="0">
              <a:buNone/>
            </a:pPr>
            <a:r>
              <a:rPr lang="en-US" sz="1300" dirty="0">
                <a:solidFill>
                  <a:schemeClr val="bg1"/>
                </a:solidFill>
                <a:latin typeface="Calibri" pitchFamily="34" charset="0"/>
                <a:ea typeface="Calibri" pitchFamily="34" charset="-122"/>
                <a:cs typeface="Calibri" pitchFamily="34" charset="-120"/>
              </a:rPr>
              <a:t>Supabase client · Realtime</a:t>
            </a:r>
            <a:endParaRPr lang="en-US" sz="1300" dirty="0"/>
          </a:p>
        </p:txBody>
      </p:sp>
      <p:sp>
        <p:nvSpPr>
          <p:cNvPr id="14" name="Shape 11"/>
          <p:cNvSpPr/>
          <p:nvPr/>
        </p:nvSpPr>
        <p:spPr>
          <a:xfrm>
            <a:off x="2926080" y="3566160"/>
            <a:ext cx="2743200" cy="1554480"/>
          </a:xfrm>
          <a:prstGeom prst="roundRect">
            <a:avLst>
              <a:gd name="adj" fmla="val 7059"/>
            </a:avLst>
          </a:prstGeom>
          <a:solidFill>
            <a:schemeClr val="tx1"/>
          </a:solidFill>
          <a:ln w="12700">
            <a:solidFill>
              <a:schemeClr val="tx1"/>
            </a:solidFill>
            <a:prstDash val="solid"/>
          </a:ln>
        </p:spPr>
      </p:sp>
      <p:sp>
        <p:nvSpPr>
          <p:cNvPr id="15" name="Text 12"/>
          <p:cNvSpPr txBox="1"/>
          <p:nvPr/>
        </p:nvSpPr>
        <p:spPr>
          <a:xfrm>
            <a:off x="2926080" y="3840480"/>
            <a:ext cx="2743200"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ASP.NET web</a:t>
            </a:r>
            <a:endParaRPr lang="en-US" sz="2200" dirty="0"/>
          </a:p>
        </p:txBody>
      </p:sp>
      <p:sp>
        <p:nvSpPr>
          <p:cNvPr id="16" name="Text 13"/>
          <p:cNvSpPr txBox="1"/>
          <p:nvPr/>
        </p:nvSpPr>
        <p:spPr>
          <a:xfrm>
            <a:off x="2926080" y="4343400"/>
            <a:ext cx="2743200" cy="64008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Customer site + Staff portal</a:t>
            </a:r>
            <a:endParaRPr lang="en-US" sz="1300" dirty="0"/>
          </a:p>
          <a:p>
            <a:pPr algn="ctr" indent="0" marL="0">
              <a:buNone/>
            </a:pPr>
            <a:r>
              <a:rPr lang="en-US" sz="1300" dirty="0">
                <a:solidFill>
                  <a:schemeClr val="bg1"/>
                </a:solidFill>
                <a:latin typeface="Calibri" pitchFamily="34" charset="0"/>
                <a:ea typeface="Calibri" pitchFamily="34" charset="-122"/>
                <a:cs typeface="Calibri" pitchFamily="34" charset="-120"/>
              </a:rPr>
              <a:t>EF Core · 4–5 s refresh</a:t>
            </a:r>
            <a:endParaRPr lang="en-US" sz="1300" dirty="0"/>
          </a:p>
        </p:txBody>
      </p:sp>
      <p:sp>
        <p:nvSpPr>
          <p:cNvPr id="17" name="Shape 14"/>
          <p:cNvSpPr/>
          <p:nvPr/>
        </p:nvSpPr>
        <p:spPr>
          <a:xfrm>
            <a:off x="2240280" y="2075688"/>
            <a:ext cx="640080" cy="210312"/>
          </a:xfrm>
          <a:prstGeom prst="line">
            <a:avLst/>
          </a:prstGeom>
          <a:noFill/>
          <a:ln w="22225">
            <a:solidFill>
              <a:schemeClr val="tx2"/>
            </a:solidFill>
            <a:prstDash val="solid"/>
            <a:tailEnd type="triangle"/>
          </a:ln>
        </p:spPr>
      </p:sp>
      <p:sp>
        <p:nvSpPr>
          <p:cNvPr id="18" name="Shape 15"/>
          <p:cNvSpPr/>
          <p:nvPr/>
        </p:nvSpPr>
        <p:spPr>
          <a:xfrm flipV="1">
            <a:off x="2240280" y="2743200"/>
            <a:ext cx="640080" cy="338328"/>
          </a:xfrm>
          <a:prstGeom prst="line">
            <a:avLst/>
          </a:prstGeom>
          <a:noFill/>
          <a:ln w="22225">
            <a:solidFill>
              <a:schemeClr val="tx2"/>
            </a:solidFill>
            <a:prstDash val="solid"/>
            <a:tailEnd type="triangle"/>
          </a:ln>
        </p:spPr>
      </p:sp>
      <p:sp>
        <p:nvSpPr>
          <p:cNvPr id="19" name="Shape 16"/>
          <p:cNvSpPr/>
          <p:nvPr/>
        </p:nvSpPr>
        <p:spPr>
          <a:xfrm>
            <a:off x="2240280" y="4087368"/>
            <a:ext cx="640080" cy="118872"/>
          </a:xfrm>
          <a:prstGeom prst="line">
            <a:avLst/>
          </a:prstGeom>
          <a:noFill/>
          <a:ln w="22225">
            <a:solidFill>
              <a:schemeClr val="tx2"/>
            </a:solidFill>
            <a:prstDash val="solid"/>
            <a:tailEnd type="triangle"/>
          </a:ln>
        </p:spPr>
      </p:sp>
      <p:sp>
        <p:nvSpPr>
          <p:cNvPr id="20" name="Shape 17"/>
          <p:cNvSpPr/>
          <p:nvPr/>
        </p:nvSpPr>
        <p:spPr>
          <a:xfrm>
            <a:off x="2240280" y="3081528"/>
            <a:ext cx="640080" cy="850392"/>
          </a:xfrm>
          <a:prstGeom prst="line">
            <a:avLst/>
          </a:prstGeom>
          <a:noFill/>
          <a:ln w="22225">
            <a:solidFill>
              <a:schemeClr val="tx2"/>
            </a:solidFill>
            <a:prstDash val="solid"/>
            <a:tailEnd type="triangle"/>
          </a:ln>
        </p:spPr>
      </p:sp>
      <p:sp>
        <p:nvSpPr>
          <p:cNvPr id="21" name="Shape 18"/>
          <p:cNvSpPr/>
          <p:nvPr/>
        </p:nvSpPr>
        <p:spPr>
          <a:xfrm>
            <a:off x="6766560" y="1645920"/>
            <a:ext cx="4846320" cy="3474720"/>
          </a:xfrm>
          <a:prstGeom prst="roundRect">
            <a:avLst>
              <a:gd name="adj" fmla="val 3158"/>
            </a:avLst>
          </a:prstGeom>
          <a:solidFill>
            <a:schemeClr val="bg2"/>
          </a:solidFill>
          <a:ln w="25400">
            <a:solidFill>
              <a:schemeClr val="accent2"/>
            </a:solidFill>
            <a:prstDash val="solid"/>
          </a:ln>
        </p:spPr>
      </p:sp>
      <p:sp>
        <p:nvSpPr>
          <p:cNvPr id="22" name="Text 19"/>
          <p:cNvSpPr txBox="1"/>
          <p:nvPr/>
        </p:nvSpPr>
        <p:spPr>
          <a:xfrm>
            <a:off x="7040880" y="1783080"/>
            <a:ext cx="429768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Supabase (PostgreSQL)</a:t>
            </a:r>
            <a:endParaRPr lang="en-US" sz="2000" dirty="0"/>
          </a:p>
        </p:txBody>
      </p:sp>
      <p:sp>
        <p:nvSpPr>
          <p:cNvPr id="23" name="Shape 20"/>
          <p:cNvSpPr/>
          <p:nvPr/>
        </p:nvSpPr>
        <p:spPr>
          <a:xfrm>
            <a:off x="7040880" y="2286000"/>
            <a:ext cx="4297680" cy="566928"/>
          </a:xfrm>
          <a:prstGeom prst="roundRect">
            <a:avLst>
              <a:gd name="adj" fmla="val 12903"/>
            </a:avLst>
          </a:prstGeom>
          <a:solidFill>
            <a:schemeClr val="bg1"/>
          </a:solidFill>
          <a:ln w="12700">
            <a:solidFill>
              <a:schemeClr val="bg1"/>
            </a:solidFill>
            <a:prstDash val="solid"/>
          </a:ln>
        </p:spPr>
      </p:sp>
      <p:sp>
        <p:nvSpPr>
          <p:cNvPr id="24" name="Text 21"/>
          <p:cNvSpPr txBox="1"/>
          <p:nvPr/>
        </p:nvSpPr>
        <p:spPr>
          <a:xfrm>
            <a:off x="7223760" y="2377440"/>
            <a:ext cx="1737360" cy="38404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Auth</a:t>
            </a:r>
            <a:endParaRPr lang="en-US" sz="1500" dirty="0"/>
          </a:p>
        </p:txBody>
      </p:sp>
      <p:sp>
        <p:nvSpPr>
          <p:cNvPr id="25" name="Text 22"/>
          <p:cNvSpPr txBox="1"/>
          <p:nvPr/>
        </p:nvSpPr>
        <p:spPr>
          <a:xfrm>
            <a:off x="8961120" y="2377440"/>
            <a:ext cx="2286000" cy="384048"/>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email, anonymous guests</a:t>
            </a:r>
            <a:endParaRPr lang="en-US" sz="1300" dirty="0"/>
          </a:p>
        </p:txBody>
      </p:sp>
      <p:sp>
        <p:nvSpPr>
          <p:cNvPr id="26" name="Shape 23"/>
          <p:cNvSpPr/>
          <p:nvPr/>
        </p:nvSpPr>
        <p:spPr>
          <a:xfrm>
            <a:off x="7040880" y="2971800"/>
            <a:ext cx="4297680" cy="566928"/>
          </a:xfrm>
          <a:prstGeom prst="roundRect">
            <a:avLst>
              <a:gd name="adj" fmla="val 12903"/>
            </a:avLst>
          </a:prstGeom>
          <a:solidFill>
            <a:schemeClr val="bg1"/>
          </a:solidFill>
          <a:ln w="12700">
            <a:solidFill>
              <a:schemeClr val="bg1"/>
            </a:solidFill>
            <a:prstDash val="solid"/>
          </a:ln>
        </p:spPr>
      </p:sp>
      <p:sp>
        <p:nvSpPr>
          <p:cNvPr id="27" name="Text 24"/>
          <p:cNvSpPr txBox="1"/>
          <p:nvPr/>
        </p:nvSpPr>
        <p:spPr>
          <a:xfrm>
            <a:off x="7223760" y="3063240"/>
            <a:ext cx="1737360" cy="38404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Row-level security</a:t>
            </a:r>
            <a:endParaRPr lang="en-US" sz="1500" dirty="0"/>
          </a:p>
        </p:txBody>
      </p:sp>
      <p:sp>
        <p:nvSpPr>
          <p:cNvPr id="28" name="Text 25"/>
          <p:cNvSpPr txBox="1"/>
          <p:nvPr/>
        </p:nvSpPr>
        <p:spPr>
          <a:xfrm>
            <a:off x="8961120" y="3063240"/>
            <a:ext cx="2286000" cy="384048"/>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role rules on all 6 tables</a:t>
            </a:r>
            <a:endParaRPr lang="en-US" sz="1300" dirty="0"/>
          </a:p>
        </p:txBody>
      </p:sp>
      <p:sp>
        <p:nvSpPr>
          <p:cNvPr id="29" name="Shape 26"/>
          <p:cNvSpPr/>
          <p:nvPr/>
        </p:nvSpPr>
        <p:spPr>
          <a:xfrm>
            <a:off x="7040880" y="3657600"/>
            <a:ext cx="4297680" cy="566928"/>
          </a:xfrm>
          <a:prstGeom prst="roundRect">
            <a:avLst>
              <a:gd name="adj" fmla="val 12903"/>
            </a:avLst>
          </a:prstGeom>
          <a:solidFill>
            <a:schemeClr val="bg1"/>
          </a:solidFill>
          <a:ln w="12700">
            <a:solidFill>
              <a:schemeClr val="bg1"/>
            </a:solidFill>
            <a:prstDash val="solid"/>
          </a:ln>
        </p:spPr>
      </p:sp>
      <p:sp>
        <p:nvSpPr>
          <p:cNvPr id="30" name="Text 27"/>
          <p:cNvSpPr txBox="1"/>
          <p:nvPr/>
        </p:nvSpPr>
        <p:spPr>
          <a:xfrm>
            <a:off x="7223760" y="3749040"/>
            <a:ext cx="1737360" cy="38404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Functions</a:t>
            </a:r>
            <a:endParaRPr lang="en-US" sz="1500" dirty="0"/>
          </a:p>
        </p:txBody>
      </p:sp>
      <p:sp>
        <p:nvSpPr>
          <p:cNvPr id="31" name="Text 28"/>
          <p:cNvSpPr txBox="1"/>
          <p:nvPr/>
        </p:nvSpPr>
        <p:spPr>
          <a:xfrm>
            <a:off x="8961120" y="3749040"/>
            <a:ext cx="2286000" cy="384048"/>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place_order · set_order_status</a:t>
            </a:r>
            <a:endParaRPr lang="en-US" sz="1300" dirty="0"/>
          </a:p>
        </p:txBody>
      </p:sp>
      <p:sp>
        <p:nvSpPr>
          <p:cNvPr id="32" name="Shape 29"/>
          <p:cNvSpPr/>
          <p:nvPr/>
        </p:nvSpPr>
        <p:spPr>
          <a:xfrm>
            <a:off x="7040880" y="4343400"/>
            <a:ext cx="4297680" cy="566928"/>
          </a:xfrm>
          <a:prstGeom prst="roundRect">
            <a:avLst>
              <a:gd name="adj" fmla="val 12903"/>
            </a:avLst>
          </a:prstGeom>
          <a:solidFill>
            <a:schemeClr val="bg1"/>
          </a:solidFill>
          <a:ln w="12700">
            <a:solidFill>
              <a:schemeClr val="bg1"/>
            </a:solidFill>
            <a:prstDash val="solid"/>
          </a:ln>
        </p:spPr>
      </p:sp>
      <p:sp>
        <p:nvSpPr>
          <p:cNvPr id="33" name="Text 30"/>
          <p:cNvSpPr txBox="1"/>
          <p:nvPr/>
        </p:nvSpPr>
        <p:spPr>
          <a:xfrm>
            <a:off x="7223760" y="4434840"/>
            <a:ext cx="1737360" cy="38404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Realtime</a:t>
            </a:r>
            <a:endParaRPr lang="en-US" sz="1500" dirty="0"/>
          </a:p>
        </p:txBody>
      </p:sp>
      <p:sp>
        <p:nvSpPr>
          <p:cNvPr id="34" name="Text 31"/>
          <p:cNvSpPr txBox="1"/>
          <p:nvPr/>
        </p:nvSpPr>
        <p:spPr>
          <a:xfrm>
            <a:off x="8961120" y="4434840"/>
            <a:ext cx="2286000" cy="384048"/>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publication on orders</a:t>
            </a:r>
            <a:endParaRPr lang="en-US" sz="1300" dirty="0"/>
          </a:p>
        </p:txBody>
      </p:sp>
      <p:sp>
        <p:nvSpPr>
          <p:cNvPr id="35" name="Shape 32"/>
          <p:cNvSpPr/>
          <p:nvPr/>
        </p:nvSpPr>
        <p:spPr>
          <a:xfrm>
            <a:off x="5715000" y="2423160"/>
            <a:ext cx="1005840" cy="0"/>
          </a:xfrm>
          <a:prstGeom prst="line">
            <a:avLst/>
          </a:prstGeom>
          <a:noFill/>
          <a:ln w="22225">
            <a:solidFill>
              <a:schemeClr val="accent1"/>
            </a:solidFill>
            <a:prstDash val="solid"/>
            <a:tailEnd type="triangle"/>
          </a:ln>
        </p:spPr>
      </p:sp>
      <p:sp>
        <p:nvSpPr>
          <p:cNvPr id="36" name="Shape 33"/>
          <p:cNvSpPr/>
          <p:nvPr/>
        </p:nvSpPr>
        <p:spPr>
          <a:xfrm>
            <a:off x="5715000" y="4251960"/>
            <a:ext cx="1005840" cy="0"/>
          </a:xfrm>
          <a:prstGeom prst="line">
            <a:avLst/>
          </a:prstGeom>
          <a:noFill/>
          <a:ln w="22225">
            <a:solidFill>
              <a:schemeClr val="tx1"/>
            </a:solidFill>
            <a:prstDash val="solid"/>
            <a:tailEnd type="triangle"/>
          </a:ln>
        </p:spPr>
      </p:sp>
      <p:sp>
        <p:nvSpPr>
          <p:cNvPr id="37" name="Text 34"/>
          <p:cNvSpPr txBox="1"/>
          <p:nvPr/>
        </p:nvSpPr>
        <p:spPr>
          <a:xfrm>
            <a:off x="5669280" y="2057400"/>
            <a:ext cx="1097280" cy="27432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RLS applies</a:t>
            </a:r>
            <a:endParaRPr lang="en-US" sz="1100" dirty="0"/>
          </a:p>
        </p:txBody>
      </p:sp>
      <p:sp>
        <p:nvSpPr>
          <p:cNvPr id="38" name="Text 35"/>
          <p:cNvSpPr txBox="1"/>
          <p:nvPr/>
        </p:nvSpPr>
        <p:spPr>
          <a:xfrm>
            <a:off x="5394960" y="4526280"/>
            <a:ext cx="1645920" cy="4572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Direct Postgres + Auth</a:t>
            </a:r>
            <a:endParaRPr lang="en-US" sz="1100" dirty="0"/>
          </a:p>
        </p:txBody>
      </p:sp>
      <p:sp>
        <p:nvSpPr>
          <p:cNvPr id="39" name="Text 36"/>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Menu pictures are bundled in each app; Supabase Storage is not used yet.</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NEO LEKHELEBANA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What changed between design and build</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011680"/>
                <a:gridCol w="4023360"/>
                <a:gridCol w="502920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Designed in Phase 2</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Built in Phase 3</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Web data access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Supabase API under RLS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Direct Postgres (EF Core); role checks in controllers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Live updates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Realtime on both apps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Flutter: Realtime + 5 s timer. Web: polling every 4–5 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Roles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Roles table with permission flags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role column: Customer, Staff, Manager</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Order status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Received, Preparing, Ready, Collected</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Adds Cancelled; order numbers NN-1001 upward</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Menu pictures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Supabase Storage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Bundled inside each app</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Extras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Forgot password (Flutter), shift timer, kitchen queue, Order again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NEO LEKHELEBANA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Who can do what is decided in the database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011680"/>
                <a:gridCol w="1828800"/>
                <a:gridCol w="1828800"/>
                <a:gridCol w="1828800"/>
                <a:gridCol w="1828800"/>
                <a:gridCol w="1737360"/>
              </a:tblGrid>
              <a:tr h="5486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Role</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Read menu</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Place order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See orders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Change status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Edit menu</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4864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Guest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Own only</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Customer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Own only</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Staff</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All</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Manager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All</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Shape 2"/>
          <p:cNvSpPr/>
          <p:nvPr/>
        </p:nvSpPr>
        <p:spPr>
          <a:xfrm>
            <a:off x="548640" y="4846320"/>
            <a:ext cx="5394960" cy="1280160"/>
          </a:xfrm>
          <a:prstGeom prst="roundRect">
            <a:avLst>
              <a:gd name="adj" fmla="val 8571"/>
            </a:avLst>
          </a:prstGeom>
          <a:solidFill>
            <a:schemeClr val="bg2"/>
          </a:solidFill>
          <a:ln w="12700">
            <a:solidFill>
              <a:schemeClr val="bg2"/>
            </a:solidFill>
            <a:prstDash val="solid"/>
          </a:ln>
        </p:spPr>
      </p:sp>
      <p:sp>
        <p:nvSpPr>
          <p:cNvPr id="7" name="Text 3"/>
          <p:cNvSpPr txBox="1"/>
          <p:nvPr/>
        </p:nvSpPr>
        <p:spPr>
          <a:xfrm>
            <a:off x="822960" y="4983480"/>
            <a:ext cx="484632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Prices are worked out on the server</a:t>
            </a:r>
            <a:endParaRPr lang="en-US" sz="1700" dirty="0"/>
          </a:p>
        </p:txBody>
      </p:sp>
      <p:sp>
        <p:nvSpPr>
          <p:cNvPr id="8" name="Text 4"/>
          <p:cNvSpPr txBox="1"/>
          <p:nvPr/>
        </p:nvSpPr>
        <p:spPr>
          <a:xfrm>
            <a:off x="822960" y="5394960"/>
            <a:ext cx="4846320"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place_order recalculates every total, so the app cannot forge one.</a:t>
            </a:r>
            <a:endParaRPr lang="en-US" sz="1400" dirty="0"/>
          </a:p>
        </p:txBody>
      </p:sp>
      <p:sp>
        <p:nvSpPr>
          <p:cNvPr id="9" name="Shape 5"/>
          <p:cNvSpPr/>
          <p:nvPr/>
        </p:nvSpPr>
        <p:spPr>
          <a:xfrm>
            <a:off x="6217920" y="4846320"/>
            <a:ext cx="5394960" cy="1280160"/>
          </a:xfrm>
          <a:prstGeom prst="roundRect">
            <a:avLst>
              <a:gd name="adj" fmla="val 8571"/>
            </a:avLst>
          </a:prstGeom>
          <a:solidFill>
            <a:schemeClr val="bg2"/>
          </a:solidFill>
          <a:ln w="12700">
            <a:solidFill>
              <a:schemeClr val="bg2"/>
            </a:solidFill>
            <a:prstDash val="solid"/>
          </a:ln>
        </p:spPr>
      </p:sp>
      <p:sp>
        <p:nvSpPr>
          <p:cNvPr id="10" name="Text 6"/>
          <p:cNvSpPr txBox="1"/>
          <p:nvPr/>
        </p:nvSpPr>
        <p:spPr>
          <a:xfrm>
            <a:off x="6492240" y="4983480"/>
            <a:ext cx="484632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New accounts are always Customer</a:t>
            </a:r>
            <a:endParaRPr lang="en-US" sz="1700" dirty="0"/>
          </a:p>
        </p:txBody>
      </p:sp>
      <p:sp>
        <p:nvSpPr>
          <p:cNvPr id="11" name="Text 7"/>
          <p:cNvSpPr txBox="1"/>
          <p:nvPr/>
        </p:nvSpPr>
        <p:spPr>
          <a:xfrm>
            <a:off x="6492240" y="5394960"/>
            <a:ext cx="4846320"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role is never read from user data. Staff are promoted by a script.</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NEO LEKHELEBANA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A password in a settings file: fix before any push</a:t>
            </a:r>
            <a:endParaRPr lang="en-US" sz="3400" dirty="0"/>
          </a:p>
        </p:txBody>
      </p:sp>
      <p:sp>
        <p:nvSpPr>
          <p:cNvPr id="5" name="Shape 2"/>
          <p:cNvSpPr/>
          <p:nvPr/>
        </p:nvSpPr>
        <p:spPr>
          <a:xfrm>
            <a:off x="548640" y="1828800"/>
            <a:ext cx="2651760" cy="2377440"/>
          </a:xfrm>
          <a:prstGeom prst="roundRect">
            <a:avLst>
              <a:gd name="adj" fmla="val 4615"/>
            </a:avLst>
          </a:prstGeom>
          <a:solidFill>
            <a:schemeClr val="bg2"/>
          </a:solidFill>
          <a:ln w="12700">
            <a:solidFill>
              <a:schemeClr val="bg2"/>
            </a:solidFill>
            <a:prstDash val="solid"/>
          </a:ln>
        </p:spPr>
      </p:sp>
      <p:sp>
        <p:nvSpPr>
          <p:cNvPr id="6" name="Shape 3"/>
          <p:cNvSpPr/>
          <p:nvPr/>
        </p:nvSpPr>
        <p:spPr>
          <a:xfrm>
            <a:off x="822960" y="2103120"/>
            <a:ext cx="640080" cy="640080"/>
          </a:xfrm>
          <a:prstGeom prst="ellipse">
            <a:avLst/>
          </a:prstGeom>
          <a:solidFill>
            <a:schemeClr val="accent3"/>
          </a:solidFill>
          <a:ln w="12700">
            <a:solidFill>
              <a:schemeClr val="accent3"/>
            </a:solidFill>
            <a:prstDash val="solid"/>
          </a:ln>
        </p:spPr>
      </p:sp>
      <p:sp>
        <p:nvSpPr>
          <p:cNvPr id="7" name="Text 4"/>
          <p:cNvSpPr txBox="1"/>
          <p:nvPr/>
        </p:nvSpPr>
        <p:spPr>
          <a:xfrm>
            <a:off x="822960" y="21031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822960" y="2926080"/>
            <a:ext cx="21945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Reset the database password in Supabase</a:t>
            </a:r>
            <a:endParaRPr lang="en-US" sz="1700" dirty="0"/>
          </a:p>
        </p:txBody>
      </p:sp>
      <p:sp>
        <p:nvSpPr>
          <p:cNvPr id="9" name="Shape 6"/>
          <p:cNvSpPr/>
          <p:nvPr/>
        </p:nvSpPr>
        <p:spPr>
          <a:xfrm>
            <a:off x="3383280" y="1828800"/>
            <a:ext cx="2651760" cy="2377440"/>
          </a:xfrm>
          <a:prstGeom prst="roundRect">
            <a:avLst>
              <a:gd name="adj" fmla="val 4615"/>
            </a:avLst>
          </a:prstGeom>
          <a:solidFill>
            <a:schemeClr val="bg2"/>
          </a:solidFill>
          <a:ln w="12700">
            <a:solidFill>
              <a:schemeClr val="bg2"/>
            </a:solidFill>
            <a:prstDash val="solid"/>
          </a:ln>
        </p:spPr>
      </p:sp>
      <p:sp>
        <p:nvSpPr>
          <p:cNvPr id="10" name="Shape 7"/>
          <p:cNvSpPr/>
          <p:nvPr/>
        </p:nvSpPr>
        <p:spPr>
          <a:xfrm>
            <a:off x="3657600" y="2103120"/>
            <a:ext cx="640080" cy="640080"/>
          </a:xfrm>
          <a:prstGeom prst="ellipse">
            <a:avLst/>
          </a:prstGeom>
          <a:solidFill>
            <a:schemeClr val="accent3"/>
          </a:solidFill>
          <a:ln w="12700">
            <a:solidFill>
              <a:schemeClr val="accent3"/>
            </a:solidFill>
            <a:prstDash val="solid"/>
          </a:ln>
        </p:spPr>
      </p:sp>
      <p:sp>
        <p:nvSpPr>
          <p:cNvPr id="11" name="Text 8"/>
          <p:cNvSpPr txBox="1"/>
          <p:nvPr/>
        </p:nvSpPr>
        <p:spPr>
          <a:xfrm>
            <a:off x="3657600" y="21031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12" name="Text 9"/>
          <p:cNvSpPr txBox="1"/>
          <p:nvPr/>
        </p:nvSpPr>
        <p:spPr>
          <a:xfrm>
            <a:off x="3657600" y="2926080"/>
            <a:ext cx="21945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Remove it from appsettings.json</a:t>
            </a:r>
            <a:endParaRPr lang="en-US" sz="1700" dirty="0"/>
          </a:p>
        </p:txBody>
      </p:sp>
      <p:sp>
        <p:nvSpPr>
          <p:cNvPr id="13" name="Shape 10"/>
          <p:cNvSpPr/>
          <p:nvPr/>
        </p:nvSpPr>
        <p:spPr>
          <a:xfrm>
            <a:off x="6217920" y="1828800"/>
            <a:ext cx="2651760" cy="2377440"/>
          </a:xfrm>
          <a:prstGeom prst="roundRect">
            <a:avLst>
              <a:gd name="adj" fmla="val 4615"/>
            </a:avLst>
          </a:prstGeom>
          <a:solidFill>
            <a:schemeClr val="bg2"/>
          </a:solidFill>
          <a:ln w="12700">
            <a:solidFill>
              <a:schemeClr val="bg2"/>
            </a:solidFill>
            <a:prstDash val="solid"/>
          </a:ln>
        </p:spPr>
      </p:sp>
      <p:sp>
        <p:nvSpPr>
          <p:cNvPr id="14" name="Shape 11"/>
          <p:cNvSpPr/>
          <p:nvPr/>
        </p:nvSpPr>
        <p:spPr>
          <a:xfrm>
            <a:off x="6492240" y="2103120"/>
            <a:ext cx="640080" cy="640080"/>
          </a:xfrm>
          <a:prstGeom prst="ellipse">
            <a:avLst/>
          </a:prstGeom>
          <a:solidFill>
            <a:schemeClr val="accent3"/>
          </a:solidFill>
          <a:ln w="12700">
            <a:solidFill>
              <a:schemeClr val="accent3"/>
            </a:solidFill>
            <a:prstDash val="solid"/>
          </a:ln>
        </p:spPr>
      </p:sp>
      <p:sp>
        <p:nvSpPr>
          <p:cNvPr id="15" name="Text 12"/>
          <p:cNvSpPr txBox="1"/>
          <p:nvPr/>
        </p:nvSpPr>
        <p:spPr>
          <a:xfrm>
            <a:off x="6492240" y="21031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6" name="Text 13"/>
          <p:cNvSpPr txBox="1"/>
          <p:nvPr/>
        </p:nvSpPr>
        <p:spPr>
          <a:xfrm>
            <a:off x="6492240" y="2926080"/>
            <a:ext cx="21945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Load it from User Secrets instead</a:t>
            </a:r>
            <a:endParaRPr lang="en-US" sz="1700" dirty="0"/>
          </a:p>
        </p:txBody>
      </p:sp>
      <p:sp>
        <p:nvSpPr>
          <p:cNvPr id="17" name="Shape 14"/>
          <p:cNvSpPr/>
          <p:nvPr/>
        </p:nvSpPr>
        <p:spPr>
          <a:xfrm>
            <a:off x="9052560" y="1828800"/>
            <a:ext cx="2651760" cy="2377440"/>
          </a:xfrm>
          <a:prstGeom prst="roundRect">
            <a:avLst>
              <a:gd name="adj" fmla="val 4615"/>
            </a:avLst>
          </a:prstGeom>
          <a:solidFill>
            <a:schemeClr val="bg2"/>
          </a:solidFill>
          <a:ln w="12700">
            <a:solidFill>
              <a:schemeClr val="bg2"/>
            </a:solidFill>
            <a:prstDash val="solid"/>
          </a:ln>
        </p:spPr>
      </p:sp>
      <p:sp>
        <p:nvSpPr>
          <p:cNvPr id="18" name="Shape 15"/>
          <p:cNvSpPr/>
          <p:nvPr/>
        </p:nvSpPr>
        <p:spPr>
          <a:xfrm>
            <a:off x="9326880" y="2103120"/>
            <a:ext cx="640080" cy="640080"/>
          </a:xfrm>
          <a:prstGeom prst="ellipse">
            <a:avLst/>
          </a:prstGeom>
          <a:solidFill>
            <a:schemeClr val="accent3"/>
          </a:solidFill>
          <a:ln w="12700">
            <a:solidFill>
              <a:schemeClr val="accent3"/>
            </a:solidFill>
            <a:prstDash val="solid"/>
          </a:ln>
        </p:spPr>
      </p:sp>
      <p:sp>
        <p:nvSpPr>
          <p:cNvPr id="19" name="Text 16"/>
          <p:cNvSpPr txBox="1"/>
          <p:nvPr/>
        </p:nvSpPr>
        <p:spPr>
          <a:xfrm>
            <a:off x="9326880" y="21031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4</a:t>
            </a:r>
            <a:endParaRPr lang="en-US" sz="2400" dirty="0"/>
          </a:p>
        </p:txBody>
      </p:sp>
      <p:sp>
        <p:nvSpPr>
          <p:cNvPr id="20" name="Text 17"/>
          <p:cNvSpPr txBox="1"/>
          <p:nvPr/>
        </p:nvSpPr>
        <p:spPr>
          <a:xfrm>
            <a:off x="9326880" y="2926080"/>
            <a:ext cx="21945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Check Git history; search the repo (TC-15)</a:t>
            </a:r>
            <a:endParaRPr lang="en-US" sz="1700" dirty="0"/>
          </a:p>
        </p:txBody>
      </p:sp>
      <p:sp>
        <p:nvSpPr>
          <p:cNvPr id="21" name="Shape 18"/>
          <p:cNvSpPr/>
          <p:nvPr/>
        </p:nvSpPr>
        <p:spPr>
          <a:xfrm>
            <a:off x="548640" y="4572000"/>
            <a:ext cx="11064240" cy="1371600"/>
          </a:xfrm>
          <a:prstGeom prst="roundRect">
            <a:avLst>
              <a:gd name="adj" fmla="val 8000"/>
            </a:avLst>
          </a:prstGeom>
          <a:solidFill>
            <a:schemeClr val="tx1"/>
          </a:solidFill>
          <a:ln w="12700">
            <a:solidFill>
              <a:schemeClr val="tx1"/>
            </a:solidFill>
            <a:prstDash val="solid"/>
          </a:ln>
        </p:spPr>
      </p:sp>
      <p:sp>
        <p:nvSpPr>
          <p:cNvPr id="22" name="Text 19"/>
          <p:cNvSpPr txBox="1"/>
          <p:nvPr/>
        </p:nvSpPr>
        <p:spPr>
          <a:xfrm>
            <a:off x="822960" y="4754880"/>
            <a:ext cx="10515600" cy="100584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Safe to publish: the project URL and the anon key (protected by row-level security).</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Never published: the database password and the service_role key.</a:t>
            </a:r>
            <a:endParaRPr lang="en-US" sz="18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HLAYISEKA MATSIMBI</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Customers can order on the web, no install</a:t>
            </a:r>
            <a:endParaRPr lang="en-US" sz="3400" dirty="0"/>
          </a:p>
        </p:txBody>
      </p:sp>
      <p:sp>
        <p:nvSpPr>
          <p:cNvPr id="5" name="Shape 2"/>
          <p:cNvSpPr/>
          <p:nvPr/>
        </p:nvSpPr>
        <p:spPr>
          <a:xfrm>
            <a:off x="548640" y="1737360"/>
            <a:ext cx="1630680" cy="502920"/>
          </a:xfrm>
          <a:prstGeom prst="roundRect">
            <a:avLst>
              <a:gd name="adj" fmla="val 18182"/>
            </a:avLst>
          </a:prstGeom>
          <a:solidFill>
            <a:schemeClr val="accent1"/>
          </a:solidFill>
          <a:ln w="12700">
            <a:solidFill>
              <a:schemeClr val="accent1"/>
            </a:solidFill>
            <a:prstDash val="solid"/>
          </a:ln>
        </p:spPr>
      </p:sp>
      <p:sp>
        <p:nvSpPr>
          <p:cNvPr id="6" name="Text 3"/>
          <p:cNvSpPr txBox="1"/>
          <p:nvPr/>
        </p:nvSpPr>
        <p:spPr>
          <a:xfrm>
            <a:off x="54864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Home</a:t>
            </a:r>
            <a:endParaRPr lang="en-US" sz="1400" dirty="0"/>
          </a:p>
        </p:txBody>
      </p:sp>
      <p:sp>
        <p:nvSpPr>
          <p:cNvPr id="7" name="Shape 4"/>
          <p:cNvSpPr/>
          <p:nvPr/>
        </p:nvSpPr>
        <p:spPr>
          <a:xfrm>
            <a:off x="2197608" y="1988820"/>
            <a:ext cx="219456" cy="0"/>
          </a:xfrm>
          <a:prstGeom prst="line">
            <a:avLst/>
          </a:prstGeom>
          <a:noFill/>
          <a:ln w="22225">
            <a:solidFill>
              <a:schemeClr val="tx2"/>
            </a:solidFill>
            <a:prstDash val="solid"/>
            <a:tailEnd type="triangle"/>
          </a:ln>
        </p:spPr>
      </p:sp>
      <p:sp>
        <p:nvSpPr>
          <p:cNvPr id="8" name="Shape 5"/>
          <p:cNvSpPr/>
          <p:nvPr/>
        </p:nvSpPr>
        <p:spPr>
          <a:xfrm>
            <a:off x="2435352" y="1737360"/>
            <a:ext cx="1630680" cy="502920"/>
          </a:xfrm>
          <a:prstGeom prst="roundRect">
            <a:avLst>
              <a:gd name="adj" fmla="val 18182"/>
            </a:avLst>
          </a:prstGeom>
          <a:solidFill>
            <a:schemeClr val="tx1"/>
          </a:solidFill>
          <a:ln w="12700">
            <a:solidFill>
              <a:schemeClr val="tx1"/>
            </a:solidFill>
            <a:prstDash val="solid"/>
          </a:ln>
        </p:spPr>
      </p:sp>
      <p:sp>
        <p:nvSpPr>
          <p:cNvPr id="9" name="Text 6"/>
          <p:cNvSpPr txBox="1"/>
          <p:nvPr/>
        </p:nvSpPr>
        <p:spPr>
          <a:xfrm>
            <a:off x="2435352"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Menu</a:t>
            </a:r>
            <a:endParaRPr lang="en-US" sz="1400" dirty="0"/>
          </a:p>
        </p:txBody>
      </p:sp>
      <p:sp>
        <p:nvSpPr>
          <p:cNvPr id="10" name="Shape 7"/>
          <p:cNvSpPr/>
          <p:nvPr/>
        </p:nvSpPr>
        <p:spPr>
          <a:xfrm>
            <a:off x="4084320" y="1988820"/>
            <a:ext cx="219456" cy="0"/>
          </a:xfrm>
          <a:prstGeom prst="line">
            <a:avLst/>
          </a:prstGeom>
          <a:noFill/>
          <a:ln w="22225">
            <a:solidFill>
              <a:schemeClr val="tx2"/>
            </a:solidFill>
            <a:prstDash val="solid"/>
            <a:tailEnd type="triangle"/>
          </a:ln>
        </p:spPr>
      </p:sp>
      <p:sp>
        <p:nvSpPr>
          <p:cNvPr id="11" name="Shape 8"/>
          <p:cNvSpPr/>
          <p:nvPr/>
        </p:nvSpPr>
        <p:spPr>
          <a:xfrm>
            <a:off x="4322064" y="1737360"/>
            <a:ext cx="1630680" cy="502920"/>
          </a:xfrm>
          <a:prstGeom prst="roundRect">
            <a:avLst>
              <a:gd name="adj" fmla="val 18182"/>
            </a:avLst>
          </a:prstGeom>
          <a:solidFill>
            <a:schemeClr val="accent1"/>
          </a:solidFill>
          <a:ln w="12700">
            <a:solidFill>
              <a:schemeClr val="accent1"/>
            </a:solidFill>
            <a:prstDash val="solid"/>
          </a:ln>
        </p:spPr>
      </p:sp>
      <p:sp>
        <p:nvSpPr>
          <p:cNvPr id="12" name="Text 9"/>
          <p:cNvSpPr txBox="1"/>
          <p:nvPr/>
        </p:nvSpPr>
        <p:spPr>
          <a:xfrm>
            <a:off x="4322064"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Cart</a:t>
            </a:r>
            <a:endParaRPr lang="en-US" sz="1400" dirty="0"/>
          </a:p>
        </p:txBody>
      </p:sp>
      <p:sp>
        <p:nvSpPr>
          <p:cNvPr id="13" name="Shape 10"/>
          <p:cNvSpPr/>
          <p:nvPr/>
        </p:nvSpPr>
        <p:spPr>
          <a:xfrm>
            <a:off x="5971032" y="1988820"/>
            <a:ext cx="219456" cy="0"/>
          </a:xfrm>
          <a:prstGeom prst="line">
            <a:avLst/>
          </a:prstGeom>
          <a:noFill/>
          <a:ln w="22225">
            <a:solidFill>
              <a:schemeClr val="tx2"/>
            </a:solidFill>
            <a:prstDash val="solid"/>
            <a:tailEnd type="triangle"/>
          </a:ln>
        </p:spPr>
      </p:sp>
      <p:sp>
        <p:nvSpPr>
          <p:cNvPr id="14" name="Shape 11"/>
          <p:cNvSpPr/>
          <p:nvPr/>
        </p:nvSpPr>
        <p:spPr>
          <a:xfrm>
            <a:off x="6208776" y="1737360"/>
            <a:ext cx="1630680" cy="502920"/>
          </a:xfrm>
          <a:prstGeom prst="roundRect">
            <a:avLst>
              <a:gd name="adj" fmla="val 18182"/>
            </a:avLst>
          </a:prstGeom>
          <a:solidFill>
            <a:schemeClr val="tx1"/>
          </a:solidFill>
          <a:ln w="12700">
            <a:solidFill>
              <a:schemeClr val="tx1"/>
            </a:solidFill>
            <a:prstDash val="solid"/>
          </a:ln>
        </p:spPr>
      </p:sp>
      <p:sp>
        <p:nvSpPr>
          <p:cNvPr id="15" name="Text 12"/>
          <p:cNvSpPr txBox="1"/>
          <p:nvPr/>
        </p:nvSpPr>
        <p:spPr>
          <a:xfrm>
            <a:off x="6208776"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Checkout</a:t>
            </a:r>
            <a:endParaRPr lang="en-US" sz="1400" dirty="0"/>
          </a:p>
        </p:txBody>
      </p:sp>
      <p:sp>
        <p:nvSpPr>
          <p:cNvPr id="16" name="Shape 13"/>
          <p:cNvSpPr/>
          <p:nvPr/>
        </p:nvSpPr>
        <p:spPr>
          <a:xfrm>
            <a:off x="7857744" y="1988820"/>
            <a:ext cx="219456" cy="0"/>
          </a:xfrm>
          <a:prstGeom prst="line">
            <a:avLst/>
          </a:prstGeom>
          <a:noFill/>
          <a:ln w="22225">
            <a:solidFill>
              <a:schemeClr val="tx2"/>
            </a:solidFill>
            <a:prstDash val="solid"/>
            <a:tailEnd type="triangle"/>
          </a:ln>
        </p:spPr>
      </p:sp>
      <p:sp>
        <p:nvSpPr>
          <p:cNvPr id="17" name="Shape 14"/>
          <p:cNvSpPr/>
          <p:nvPr/>
        </p:nvSpPr>
        <p:spPr>
          <a:xfrm>
            <a:off x="8095488" y="1737360"/>
            <a:ext cx="1630680" cy="502920"/>
          </a:xfrm>
          <a:prstGeom prst="roundRect">
            <a:avLst>
              <a:gd name="adj" fmla="val 18182"/>
            </a:avLst>
          </a:prstGeom>
          <a:solidFill>
            <a:schemeClr val="accent1"/>
          </a:solidFill>
          <a:ln w="12700">
            <a:solidFill>
              <a:schemeClr val="accent1"/>
            </a:solidFill>
            <a:prstDash val="solid"/>
          </a:ln>
        </p:spPr>
      </p:sp>
      <p:sp>
        <p:nvSpPr>
          <p:cNvPr id="18" name="Text 15"/>
          <p:cNvSpPr txBox="1"/>
          <p:nvPr/>
        </p:nvSpPr>
        <p:spPr>
          <a:xfrm>
            <a:off x="8095488"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Order received</a:t>
            </a:r>
            <a:endParaRPr lang="en-US" sz="1400" dirty="0"/>
          </a:p>
        </p:txBody>
      </p:sp>
      <p:sp>
        <p:nvSpPr>
          <p:cNvPr id="19" name="Shape 16"/>
          <p:cNvSpPr/>
          <p:nvPr/>
        </p:nvSpPr>
        <p:spPr>
          <a:xfrm>
            <a:off x="9744456" y="1988820"/>
            <a:ext cx="219456" cy="0"/>
          </a:xfrm>
          <a:prstGeom prst="line">
            <a:avLst/>
          </a:prstGeom>
          <a:noFill/>
          <a:ln w="22225">
            <a:solidFill>
              <a:schemeClr val="tx2"/>
            </a:solidFill>
            <a:prstDash val="solid"/>
            <a:tailEnd type="triangle"/>
          </a:ln>
        </p:spPr>
      </p:sp>
      <p:sp>
        <p:nvSpPr>
          <p:cNvPr id="20" name="Shape 17"/>
          <p:cNvSpPr/>
          <p:nvPr/>
        </p:nvSpPr>
        <p:spPr>
          <a:xfrm>
            <a:off x="9982200" y="1737360"/>
            <a:ext cx="1630680" cy="502920"/>
          </a:xfrm>
          <a:prstGeom prst="roundRect">
            <a:avLst>
              <a:gd name="adj" fmla="val 18182"/>
            </a:avLst>
          </a:prstGeom>
          <a:solidFill>
            <a:schemeClr val="tx1"/>
          </a:solidFill>
          <a:ln w="12700">
            <a:solidFill>
              <a:schemeClr val="tx1"/>
            </a:solidFill>
            <a:prstDash val="solid"/>
          </a:ln>
        </p:spPr>
      </p:sp>
      <p:sp>
        <p:nvSpPr>
          <p:cNvPr id="21" name="Text 18"/>
          <p:cNvSpPr txBox="1"/>
          <p:nvPr/>
        </p:nvSpPr>
        <p:spPr>
          <a:xfrm>
            <a:off x="998220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Track</a:t>
            </a:r>
            <a:endParaRPr lang="en-US" sz="1400" dirty="0"/>
          </a:p>
        </p:txBody>
      </p:sp>
      <p:sp>
        <p:nvSpPr>
          <p:cNvPr id="22" name="Text 19"/>
          <p:cNvSpPr txBox="1"/>
          <p:nvPr/>
        </p:nvSpPr>
        <p:spPr>
          <a:xfrm>
            <a:off x="548640" y="2834640"/>
            <a:ext cx="64008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Guests order with just a name and an optional note; registered customers also get a profile, history and Order again</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Sign-in and registration use Supabase Auth, so the same account works on the phone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Order tracking refreshes every 5 seconds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Open decision: Forgot password exists in Flutter but not on the web yet</a:t>
            </a:r>
            <a:endParaRPr lang="en-US" sz="1700" dirty="0"/>
          </a:p>
        </p:txBody>
      </p:sp>
      <p:pic>
        <p:nvPicPr>
          <p:cNvPr id="23" name="Image 0" descr="img/wors.jpg">    </p:cNvPr>
          <p:cNvPicPr>
            <a:picLocks noChangeAspect="1"/>
          </p:cNvPicPr>
          <p:nvPr/>
        </p:nvPicPr>
        <p:blipFill>
          <a:blip r:embed="rId1"/>
          <a:srcRect l="0" r="0" t="0" b="0"/>
          <a:stretch/>
        </p:blipFill>
        <p:spPr>
          <a:xfrm>
            <a:off x="7498080" y="2834640"/>
            <a:ext cx="4114800" cy="2313432"/>
          </a:xfrm>
          <a:prstGeom prst="rect">
            <a:avLst/>
          </a:prstGeom>
        </p:spPr>
      </p:pic>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TSHEPANG MORAKE</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Staff run the queue; managers run menu and sales</a:t>
            </a:r>
            <a:endParaRPr lang="en-US" sz="3400" dirty="0"/>
          </a:p>
        </p:txBody>
      </p:sp>
      <p:sp>
        <p:nvSpPr>
          <p:cNvPr id="5" name="Shape 2"/>
          <p:cNvSpPr/>
          <p:nvPr/>
        </p:nvSpPr>
        <p:spPr>
          <a:xfrm>
            <a:off x="548640" y="1737360"/>
            <a:ext cx="5394960" cy="3840480"/>
          </a:xfrm>
          <a:prstGeom prst="roundRect">
            <a:avLst>
              <a:gd name="adj" fmla="val 2857"/>
            </a:avLst>
          </a:prstGeom>
          <a:solidFill>
            <a:schemeClr val="bg2"/>
          </a:solidFill>
          <a:ln w="12700">
            <a:solidFill>
              <a:schemeClr val="bg2"/>
            </a:solidFill>
            <a:prstDash val="solid"/>
          </a:ln>
        </p:spPr>
      </p:sp>
      <p:sp>
        <p:nvSpPr>
          <p:cNvPr id="6" name="Text 3"/>
          <p:cNvSpPr txBox="1"/>
          <p:nvPr/>
        </p:nvSpPr>
        <p:spPr>
          <a:xfrm>
            <a:off x="822960" y="1874520"/>
            <a:ext cx="484632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Staff</a:t>
            </a:r>
            <a:endParaRPr lang="en-US" sz="2000" dirty="0"/>
          </a:p>
        </p:txBody>
      </p:sp>
      <p:sp>
        <p:nvSpPr>
          <p:cNvPr id="7" name="Text 4"/>
          <p:cNvSpPr txBox="1"/>
          <p:nvPr/>
        </p:nvSpPr>
        <p:spPr>
          <a:xfrm>
            <a:off x="822960" y="233172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Home with live alerts, shift timer and today’s numbers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Incoming orders: start or cancel</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Order details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Kitchen queue: Ready, Collected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Take a break pauses order actions; End shift signs out</a:t>
            </a:r>
            <a:endParaRPr lang="en-US" sz="1700" dirty="0"/>
          </a:p>
        </p:txBody>
      </p:sp>
      <p:sp>
        <p:nvSpPr>
          <p:cNvPr id="8" name="Shape 5"/>
          <p:cNvSpPr/>
          <p:nvPr/>
        </p:nvSpPr>
        <p:spPr>
          <a:xfrm>
            <a:off x="6217920" y="1737360"/>
            <a:ext cx="5394960" cy="3840480"/>
          </a:xfrm>
          <a:prstGeom prst="roundRect">
            <a:avLst>
              <a:gd name="adj" fmla="val 2857"/>
            </a:avLst>
          </a:prstGeom>
          <a:solidFill>
            <a:schemeClr val="bg2"/>
          </a:solidFill>
          <a:ln w="12700">
            <a:solidFill>
              <a:schemeClr val="bg2"/>
            </a:solidFill>
            <a:prstDash val="solid"/>
          </a:ln>
        </p:spPr>
      </p:sp>
      <p:sp>
        <p:nvSpPr>
          <p:cNvPr id="9" name="Text 6"/>
          <p:cNvSpPr txBox="1"/>
          <p:nvPr/>
        </p:nvSpPr>
        <p:spPr>
          <a:xfrm>
            <a:off x="6492240" y="1874520"/>
            <a:ext cx="484632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Manager adds</a:t>
            </a:r>
            <a:endParaRPr lang="en-US" sz="2000" dirty="0"/>
          </a:p>
        </p:txBody>
      </p:sp>
      <p:sp>
        <p:nvSpPr>
          <p:cNvPr id="10" name="Text 7"/>
          <p:cNvSpPr txBox="1"/>
          <p:nvPr/>
        </p:nvSpPr>
        <p:spPr>
          <a:xfrm>
            <a:off x="6492240" y="233172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Menu management: add, edit, sold out, remove, add categories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Sales overview: orders and value today, totals, average order, cancelled, top items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Top sellers on the home page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ERD to be redrawn to match the real schema</a:t>
            </a:r>
            <a:endParaRPr lang="en-US" sz="17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CHARMAINE MOGOTSI</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The same ordering flow, built for the phone</a:t>
            </a:r>
            <a:endParaRPr lang="en-US" sz="3400" dirty="0"/>
          </a:p>
        </p:txBody>
      </p:sp>
      <p:sp>
        <p:nvSpPr>
          <p:cNvPr id="5" name="Shape 2"/>
          <p:cNvSpPr/>
          <p:nvPr/>
        </p:nvSpPr>
        <p:spPr>
          <a:xfrm>
            <a:off x="548640" y="1737360"/>
            <a:ext cx="1630680" cy="502920"/>
          </a:xfrm>
          <a:prstGeom prst="roundRect">
            <a:avLst>
              <a:gd name="adj" fmla="val 18182"/>
            </a:avLst>
          </a:prstGeom>
          <a:solidFill>
            <a:schemeClr val="accent1"/>
          </a:solidFill>
          <a:ln w="12700">
            <a:solidFill>
              <a:schemeClr val="accent1"/>
            </a:solidFill>
            <a:prstDash val="solid"/>
          </a:ln>
        </p:spPr>
      </p:sp>
      <p:sp>
        <p:nvSpPr>
          <p:cNvPr id="6" name="Text 3"/>
          <p:cNvSpPr txBox="1"/>
          <p:nvPr/>
        </p:nvSpPr>
        <p:spPr>
          <a:xfrm>
            <a:off x="54864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Welcome</a:t>
            </a:r>
            <a:endParaRPr lang="en-US" sz="1400" dirty="0"/>
          </a:p>
        </p:txBody>
      </p:sp>
      <p:sp>
        <p:nvSpPr>
          <p:cNvPr id="7" name="Shape 4"/>
          <p:cNvSpPr/>
          <p:nvPr/>
        </p:nvSpPr>
        <p:spPr>
          <a:xfrm>
            <a:off x="2197608" y="1988820"/>
            <a:ext cx="219456" cy="0"/>
          </a:xfrm>
          <a:prstGeom prst="line">
            <a:avLst/>
          </a:prstGeom>
          <a:noFill/>
          <a:ln w="22225">
            <a:solidFill>
              <a:schemeClr val="tx2"/>
            </a:solidFill>
            <a:prstDash val="solid"/>
            <a:tailEnd type="triangle"/>
          </a:ln>
        </p:spPr>
      </p:sp>
      <p:sp>
        <p:nvSpPr>
          <p:cNvPr id="8" name="Shape 5"/>
          <p:cNvSpPr/>
          <p:nvPr/>
        </p:nvSpPr>
        <p:spPr>
          <a:xfrm>
            <a:off x="2435352" y="1737360"/>
            <a:ext cx="1630680" cy="502920"/>
          </a:xfrm>
          <a:prstGeom prst="roundRect">
            <a:avLst>
              <a:gd name="adj" fmla="val 18182"/>
            </a:avLst>
          </a:prstGeom>
          <a:solidFill>
            <a:schemeClr val="tx1"/>
          </a:solidFill>
          <a:ln w="12700">
            <a:solidFill>
              <a:schemeClr val="tx1"/>
            </a:solidFill>
            <a:prstDash val="solid"/>
          </a:ln>
        </p:spPr>
      </p:sp>
      <p:sp>
        <p:nvSpPr>
          <p:cNvPr id="9" name="Text 6"/>
          <p:cNvSpPr txBox="1"/>
          <p:nvPr/>
        </p:nvSpPr>
        <p:spPr>
          <a:xfrm>
            <a:off x="2435352"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Home</a:t>
            </a:r>
            <a:endParaRPr lang="en-US" sz="1400" dirty="0"/>
          </a:p>
        </p:txBody>
      </p:sp>
      <p:sp>
        <p:nvSpPr>
          <p:cNvPr id="10" name="Shape 7"/>
          <p:cNvSpPr/>
          <p:nvPr/>
        </p:nvSpPr>
        <p:spPr>
          <a:xfrm>
            <a:off x="4084320" y="1988820"/>
            <a:ext cx="219456" cy="0"/>
          </a:xfrm>
          <a:prstGeom prst="line">
            <a:avLst/>
          </a:prstGeom>
          <a:noFill/>
          <a:ln w="22225">
            <a:solidFill>
              <a:schemeClr val="tx2"/>
            </a:solidFill>
            <a:prstDash val="solid"/>
            <a:tailEnd type="triangle"/>
          </a:ln>
        </p:spPr>
      </p:sp>
      <p:sp>
        <p:nvSpPr>
          <p:cNvPr id="11" name="Shape 8"/>
          <p:cNvSpPr/>
          <p:nvPr/>
        </p:nvSpPr>
        <p:spPr>
          <a:xfrm>
            <a:off x="4322064" y="1737360"/>
            <a:ext cx="1630680" cy="502920"/>
          </a:xfrm>
          <a:prstGeom prst="roundRect">
            <a:avLst>
              <a:gd name="adj" fmla="val 18182"/>
            </a:avLst>
          </a:prstGeom>
          <a:solidFill>
            <a:schemeClr val="accent1"/>
          </a:solidFill>
          <a:ln w="12700">
            <a:solidFill>
              <a:schemeClr val="accent1"/>
            </a:solidFill>
            <a:prstDash val="solid"/>
          </a:ln>
        </p:spPr>
      </p:sp>
      <p:sp>
        <p:nvSpPr>
          <p:cNvPr id="12" name="Text 9"/>
          <p:cNvSpPr txBox="1"/>
          <p:nvPr/>
        </p:nvSpPr>
        <p:spPr>
          <a:xfrm>
            <a:off x="4322064"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Menu</a:t>
            </a:r>
            <a:endParaRPr lang="en-US" sz="1400" dirty="0"/>
          </a:p>
        </p:txBody>
      </p:sp>
      <p:sp>
        <p:nvSpPr>
          <p:cNvPr id="13" name="Shape 10"/>
          <p:cNvSpPr/>
          <p:nvPr/>
        </p:nvSpPr>
        <p:spPr>
          <a:xfrm>
            <a:off x="5971032" y="1988820"/>
            <a:ext cx="219456" cy="0"/>
          </a:xfrm>
          <a:prstGeom prst="line">
            <a:avLst/>
          </a:prstGeom>
          <a:noFill/>
          <a:ln w="22225">
            <a:solidFill>
              <a:schemeClr val="tx2"/>
            </a:solidFill>
            <a:prstDash val="solid"/>
            <a:tailEnd type="triangle"/>
          </a:ln>
        </p:spPr>
      </p:sp>
      <p:sp>
        <p:nvSpPr>
          <p:cNvPr id="14" name="Shape 11"/>
          <p:cNvSpPr/>
          <p:nvPr/>
        </p:nvSpPr>
        <p:spPr>
          <a:xfrm>
            <a:off x="6208776" y="1737360"/>
            <a:ext cx="1630680" cy="502920"/>
          </a:xfrm>
          <a:prstGeom prst="roundRect">
            <a:avLst>
              <a:gd name="adj" fmla="val 18182"/>
            </a:avLst>
          </a:prstGeom>
          <a:solidFill>
            <a:schemeClr val="tx1"/>
          </a:solidFill>
          <a:ln w="12700">
            <a:solidFill>
              <a:schemeClr val="tx1"/>
            </a:solidFill>
            <a:prstDash val="solid"/>
          </a:ln>
        </p:spPr>
      </p:sp>
      <p:sp>
        <p:nvSpPr>
          <p:cNvPr id="15" name="Text 12"/>
          <p:cNvSpPr txBox="1"/>
          <p:nvPr/>
        </p:nvSpPr>
        <p:spPr>
          <a:xfrm>
            <a:off x="6208776"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Cart</a:t>
            </a:r>
            <a:endParaRPr lang="en-US" sz="1400" dirty="0"/>
          </a:p>
        </p:txBody>
      </p:sp>
      <p:sp>
        <p:nvSpPr>
          <p:cNvPr id="16" name="Shape 13"/>
          <p:cNvSpPr/>
          <p:nvPr/>
        </p:nvSpPr>
        <p:spPr>
          <a:xfrm>
            <a:off x="7857744" y="1988820"/>
            <a:ext cx="219456" cy="0"/>
          </a:xfrm>
          <a:prstGeom prst="line">
            <a:avLst/>
          </a:prstGeom>
          <a:noFill/>
          <a:ln w="22225">
            <a:solidFill>
              <a:schemeClr val="tx2"/>
            </a:solidFill>
            <a:prstDash val="solid"/>
            <a:tailEnd type="triangle"/>
          </a:ln>
        </p:spPr>
      </p:sp>
      <p:sp>
        <p:nvSpPr>
          <p:cNvPr id="17" name="Shape 14"/>
          <p:cNvSpPr/>
          <p:nvPr/>
        </p:nvSpPr>
        <p:spPr>
          <a:xfrm>
            <a:off x="8095488" y="1737360"/>
            <a:ext cx="1630680" cy="502920"/>
          </a:xfrm>
          <a:prstGeom prst="roundRect">
            <a:avLst>
              <a:gd name="adj" fmla="val 18182"/>
            </a:avLst>
          </a:prstGeom>
          <a:solidFill>
            <a:schemeClr val="accent1"/>
          </a:solidFill>
          <a:ln w="12700">
            <a:solidFill>
              <a:schemeClr val="accent1"/>
            </a:solidFill>
            <a:prstDash val="solid"/>
          </a:ln>
        </p:spPr>
      </p:sp>
      <p:sp>
        <p:nvSpPr>
          <p:cNvPr id="18" name="Text 15"/>
          <p:cNvSpPr txBox="1"/>
          <p:nvPr/>
        </p:nvSpPr>
        <p:spPr>
          <a:xfrm>
            <a:off x="8095488"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Checkout</a:t>
            </a:r>
            <a:endParaRPr lang="en-US" sz="1400" dirty="0"/>
          </a:p>
        </p:txBody>
      </p:sp>
      <p:sp>
        <p:nvSpPr>
          <p:cNvPr id="19" name="Shape 16"/>
          <p:cNvSpPr/>
          <p:nvPr/>
        </p:nvSpPr>
        <p:spPr>
          <a:xfrm>
            <a:off x="9744456" y="1988820"/>
            <a:ext cx="219456" cy="0"/>
          </a:xfrm>
          <a:prstGeom prst="line">
            <a:avLst/>
          </a:prstGeom>
          <a:noFill/>
          <a:ln w="22225">
            <a:solidFill>
              <a:schemeClr val="tx2"/>
            </a:solidFill>
            <a:prstDash val="solid"/>
            <a:tailEnd type="triangle"/>
          </a:ln>
        </p:spPr>
      </p:sp>
      <p:sp>
        <p:nvSpPr>
          <p:cNvPr id="20" name="Shape 17"/>
          <p:cNvSpPr/>
          <p:nvPr/>
        </p:nvSpPr>
        <p:spPr>
          <a:xfrm>
            <a:off x="9982200" y="1737360"/>
            <a:ext cx="1630680" cy="502920"/>
          </a:xfrm>
          <a:prstGeom prst="roundRect">
            <a:avLst>
              <a:gd name="adj" fmla="val 18182"/>
            </a:avLst>
          </a:prstGeom>
          <a:solidFill>
            <a:schemeClr val="tx1"/>
          </a:solidFill>
          <a:ln w="12700">
            <a:solidFill>
              <a:schemeClr val="tx1"/>
            </a:solidFill>
            <a:prstDash val="solid"/>
          </a:ln>
        </p:spPr>
      </p:sp>
      <p:sp>
        <p:nvSpPr>
          <p:cNvPr id="21" name="Text 18"/>
          <p:cNvSpPr txBox="1"/>
          <p:nvPr/>
        </p:nvSpPr>
        <p:spPr>
          <a:xfrm>
            <a:off x="998220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Track</a:t>
            </a:r>
            <a:endParaRPr lang="en-US" sz="1400" dirty="0"/>
          </a:p>
        </p:txBody>
      </p:sp>
      <p:sp>
        <p:nvSpPr>
          <p:cNvPr id="22" name="Text 19"/>
          <p:cNvSpPr txBox="1"/>
          <p:nvPr/>
        </p:nvSpPr>
        <p:spPr>
          <a:xfrm>
            <a:off x="548640" y="2834640"/>
            <a:ext cx="64008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Guest checkout through anonymous sign-in; registered customers keep history</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Live status through Supabase Realtime, with a 5 second timer as a fallback</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Forgot password with a 6-digit code sent by email</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Order again adds only items that are still available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Only the public anon key is inside the app</a:t>
            </a:r>
            <a:endParaRPr lang="en-US" sz="1700" dirty="0"/>
          </a:p>
        </p:txBody>
      </p:sp>
      <p:pic>
        <p:nvPicPr>
          <p:cNvPr id="23" name="Image 0" descr="img/chicken_wings.jpg">    </p:cNvPr>
          <p:cNvPicPr>
            <a:picLocks noChangeAspect="1"/>
          </p:cNvPicPr>
          <p:nvPr/>
        </p:nvPicPr>
        <p:blipFill>
          <a:blip r:embed="rId1"/>
          <a:srcRect l="0" r="0" t="0" b="0"/>
          <a:stretch/>
        </p:blipFill>
        <p:spPr>
          <a:xfrm>
            <a:off x="7498080" y="2834640"/>
            <a:ext cx="4114800" cy="2743200"/>
          </a:xfrm>
          <a:prstGeom prst="rect">
            <a:avLst/>
          </a:prstGeom>
        </p:spPr>
      </p:pic>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CHARMAINE MOGOTSI</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GitHub: every member, every portfolio, reviewed</a:t>
            </a:r>
            <a:endParaRPr lang="en-US" sz="3400" dirty="0"/>
          </a:p>
        </p:txBody>
      </p:sp>
      <p:sp>
        <p:nvSpPr>
          <p:cNvPr id="5" name="Shape 2"/>
          <p:cNvSpPr/>
          <p:nvPr/>
        </p:nvSpPr>
        <p:spPr>
          <a:xfrm>
            <a:off x="548640" y="1737360"/>
            <a:ext cx="4937760" cy="4297680"/>
          </a:xfrm>
          <a:prstGeom prst="roundRect">
            <a:avLst>
              <a:gd name="adj" fmla="val 2553"/>
            </a:avLst>
          </a:prstGeom>
          <a:solidFill>
            <a:schemeClr val="bg2"/>
          </a:solidFill>
          <a:ln w="12700">
            <a:solidFill>
              <a:schemeClr val="bg2"/>
            </a:solidFill>
            <a:prstDash val="solid"/>
          </a:ln>
        </p:spPr>
      </p:sp>
      <p:sp>
        <p:nvSpPr>
          <p:cNvPr id="6" name="Text 3"/>
          <p:cNvSpPr txBox="1"/>
          <p:nvPr/>
        </p:nvSpPr>
        <p:spPr>
          <a:xfrm>
            <a:off x="822960" y="1920240"/>
            <a:ext cx="4480560" cy="3840480"/>
          </a:xfrm>
          <a:prstGeom prst="rect">
            <a:avLst/>
          </a:prstGeom>
          <a:noFill/>
          <a:ln/>
        </p:spPr>
        <p:txBody>
          <a:bodyPr wrap="square" lIns="0" tIns="0" rIns="0" bIns="0" rtlCol="0" anchor="t"/>
          <a:lstStyle/>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/flutter-app</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/aspnet-web</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/supabase</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/docs</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   /design  /security</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   /testing  /stakeholder</a:t>
            </a:r>
            <a:endParaRPr lang="en-US" sz="1600" dirty="0"/>
          </a:p>
          <a:p>
            <a:pPr indent="0" marL="0">
              <a:spcAft>
                <a:spcPts val="600"/>
              </a:spcAft>
              <a:buNone/>
            </a:pPr>
            <a:r>
              <a:rPr lang="en-US" sz="1600" dirty="0">
                <a:solidFill>
                  <a:schemeClr val="tx1"/>
                </a:solidFill>
                <a:latin typeface="Courier New" pitchFamily="34" charset="0"/>
                <a:ea typeface="Courier New" pitchFamily="34" charset="-122"/>
                <a:cs typeface="Courier New" pitchFamily="34" charset="-120"/>
              </a:rPr>
              <a:t>/project-management</a:t>
            </a:r>
            <a:endParaRPr lang="en-US" sz="1600" dirty="0"/>
          </a:p>
        </p:txBody>
      </p:sp>
      <p:sp>
        <p:nvSpPr>
          <p:cNvPr id="7" name="Text 4"/>
          <p:cNvSpPr txBox="1"/>
          <p:nvPr/>
        </p:nvSpPr>
        <p:spPr>
          <a:xfrm>
            <a:off x="5943600" y="1828800"/>
            <a:ext cx="5669280" cy="4114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Own branch per portfolio, for example feature/flutter-customer</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At least 4 commits on at least 2 different days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Pull request into main, approved by another member</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No passwords or service_role key in any file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Release tag v1.0-prototype on 30 October</a:t>
            </a:r>
            <a:endParaRPr lang="en-US" sz="17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LESEDI RAMOLAHLOANE</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Staff and managers work from a phone or tablet</a:t>
            </a:r>
            <a:endParaRPr lang="en-US" sz="3400" dirty="0"/>
          </a:p>
        </p:txBody>
      </p:sp>
      <p:sp>
        <p:nvSpPr>
          <p:cNvPr id="5" name="Shape 2"/>
          <p:cNvSpPr/>
          <p:nvPr/>
        </p:nvSpPr>
        <p:spPr>
          <a:xfrm>
            <a:off x="548640" y="1737360"/>
            <a:ext cx="1630680" cy="502920"/>
          </a:xfrm>
          <a:prstGeom prst="roundRect">
            <a:avLst>
              <a:gd name="adj" fmla="val 18182"/>
            </a:avLst>
          </a:prstGeom>
          <a:solidFill>
            <a:schemeClr val="accent1"/>
          </a:solidFill>
          <a:ln w="12700">
            <a:solidFill>
              <a:schemeClr val="accent1"/>
            </a:solidFill>
            <a:prstDash val="solid"/>
          </a:ln>
        </p:spPr>
      </p:sp>
      <p:sp>
        <p:nvSpPr>
          <p:cNvPr id="6" name="Text 3"/>
          <p:cNvSpPr txBox="1"/>
          <p:nvPr/>
        </p:nvSpPr>
        <p:spPr>
          <a:xfrm>
            <a:off x="54864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Home</a:t>
            </a:r>
            <a:endParaRPr lang="en-US" sz="1400" dirty="0"/>
          </a:p>
        </p:txBody>
      </p:sp>
      <p:sp>
        <p:nvSpPr>
          <p:cNvPr id="7" name="Shape 4"/>
          <p:cNvSpPr/>
          <p:nvPr/>
        </p:nvSpPr>
        <p:spPr>
          <a:xfrm>
            <a:off x="2197608" y="1988820"/>
            <a:ext cx="219456" cy="0"/>
          </a:xfrm>
          <a:prstGeom prst="line">
            <a:avLst/>
          </a:prstGeom>
          <a:noFill/>
          <a:ln w="22225">
            <a:solidFill>
              <a:schemeClr val="tx2"/>
            </a:solidFill>
            <a:prstDash val="solid"/>
            <a:tailEnd type="triangle"/>
          </a:ln>
        </p:spPr>
      </p:sp>
      <p:sp>
        <p:nvSpPr>
          <p:cNvPr id="8" name="Shape 5"/>
          <p:cNvSpPr/>
          <p:nvPr/>
        </p:nvSpPr>
        <p:spPr>
          <a:xfrm>
            <a:off x="2435352" y="1737360"/>
            <a:ext cx="1630680" cy="502920"/>
          </a:xfrm>
          <a:prstGeom prst="roundRect">
            <a:avLst>
              <a:gd name="adj" fmla="val 18182"/>
            </a:avLst>
          </a:prstGeom>
          <a:solidFill>
            <a:schemeClr val="tx1"/>
          </a:solidFill>
          <a:ln w="12700">
            <a:solidFill>
              <a:schemeClr val="tx1"/>
            </a:solidFill>
            <a:prstDash val="solid"/>
          </a:ln>
        </p:spPr>
      </p:sp>
      <p:sp>
        <p:nvSpPr>
          <p:cNvPr id="9" name="Text 6"/>
          <p:cNvSpPr txBox="1"/>
          <p:nvPr/>
        </p:nvSpPr>
        <p:spPr>
          <a:xfrm>
            <a:off x="2435352"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Incoming</a:t>
            </a:r>
            <a:endParaRPr lang="en-US" sz="1400" dirty="0"/>
          </a:p>
        </p:txBody>
      </p:sp>
      <p:sp>
        <p:nvSpPr>
          <p:cNvPr id="10" name="Shape 7"/>
          <p:cNvSpPr/>
          <p:nvPr/>
        </p:nvSpPr>
        <p:spPr>
          <a:xfrm>
            <a:off x="4084320" y="1988820"/>
            <a:ext cx="219456" cy="0"/>
          </a:xfrm>
          <a:prstGeom prst="line">
            <a:avLst/>
          </a:prstGeom>
          <a:noFill/>
          <a:ln w="22225">
            <a:solidFill>
              <a:schemeClr val="tx2"/>
            </a:solidFill>
            <a:prstDash val="solid"/>
            <a:tailEnd type="triangle"/>
          </a:ln>
        </p:spPr>
      </p:sp>
      <p:sp>
        <p:nvSpPr>
          <p:cNvPr id="11" name="Shape 8"/>
          <p:cNvSpPr/>
          <p:nvPr/>
        </p:nvSpPr>
        <p:spPr>
          <a:xfrm>
            <a:off x="4322064" y="1737360"/>
            <a:ext cx="1630680" cy="502920"/>
          </a:xfrm>
          <a:prstGeom prst="roundRect">
            <a:avLst>
              <a:gd name="adj" fmla="val 18182"/>
            </a:avLst>
          </a:prstGeom>
          <a:solidFill>
            <a:schemeClr val="accent1"/>
          </a:solidFill>
          <a:ln w="12700">
            <a:solidFill>
              <a:schemeClr val="accent1"/>
            </a:solidFill>
            <a:prstDash val="solid"/>
          </a:ln>
        </p:spPr>
      </p:sp>
      <p:sp>
        <p:nvSpPr>
          <p:cNvPr id="12" name="Text 9"/>
          <p:cNvSpPr txBox="1"/>
          <p:nvPr/>
        </p:nvSpPr>
        <p:spPr>
          <a:xfrm>
            <a:off x="4322064"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Order detail</a:t>
            </a:r>
            <a:endParaRPr lang="en-US" sz="1400" dirty="0"/>
          </a:p>
        </p:txBody>
      </p:sp>
      <p:sp>
        <p:nvSpPr>
          <p:cNvPr id="13" name="Shape 10"/>
          <p:cNvSpPr/>
          <p:nvPr/>
        </p:nvSpPr>
        <p:spPr>
          <a:xfrm>
            <a:off x="5971032" y="1988820"/>
            <a:ext cx="219456" cy="0"/>
          </a:xfrm>
          <a:prstGeom prst="line">
            <a:avLst/>
          </a:prstGeom>
          <a:noFill/>
          <a:ln w="22225">
            <a:solidFill>
              <a:schemeClr val="tx2"/>
            </a:solidFill>
            <a:prstDash val="solid"/>
            <a:tailEnd type="triangle"/>
          </a:ln>
        </p:spPr>
      </p:sp>
      <p:sp>
        <p:nvSpPr>
          <p:cNvPr id="14" name="Shape 11"/>
          <p:cNvSpPr/>
          <p:nvPr/>
        </p:nvSpPr>
        <p:spPr>
          <a:xfrm>
            <a:off x="6208776" y="1737360"/>
            <a:ext cx="1630680" cy="502920"/>
          </a:xfrm>
          <a:prstGeom prst="roundRect">
            <a:avLst>
              <a:gd name="adj" fmla="val 18182"/>
            </a:avLst>
          </a:prstGeom>
          <a:solidFill>
            <a:schemeClr val="tx1"/>
          </a:solidFill>
          <a:ln w="12700">
            <a:solidFill>
              <a:schemeClr val="tx1"/>
            </a:solidFill>
            <a:prstDash val="solid"/>
          </a:ln>
        </p:spPr>
      </p:sp>
      <p:sp>
        <p:nvSpPr>
          <p:cNvPr id="15" name="Text 12"/>
          <p:cNvSpPr txBox="1"/>
          <p:nvPr/>
        </p:nvSpPr>
        <p:spPr>
          <a:xfrm>
            <a:off x="6208776"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Kitchen</a:t>
            </a:r>
            <a:endParaRPr lang="en-US" sz="1400" dirty="0"/>
          </a:p>
        </p:txBody>
      </p:sp>
      <p:sp>
        <p:nvSpPr>
          <p:cNvPr id="16" name="Shape 13"/>
          <p:cNvSpPr/>
          <p:nvPr/>
        </p:nvSpPr>
        <p:spPr>
          <a:xfrm>
            <a:off x="7857744" y="1988820"/>
            <a:ext cx="219456" cy="0"/>
          </a:xfrm>
          <a:prstGeom prst="line">
            <a:avLst/>
          </a:prstGeom>
          <a:noFill/>
          <a:ln w="22225">
            <a:solidFill>
              <a:schemeClr val="tx2"/>
            </a:solidFill>
            <a:prstDash val="solid"/>
            <a:tailEnd type="triangle"/>
          </a:ln>
        </p:spPr>
      </p:sp>
      <p:sp>
        <p:nvSpPr>
          <p:cNvPr id="17" name="Shape 14"/>
          <p:cNvSpPr/>
          <p:nvPr/>
        </p:nvSpPr>
        <p:spPr>
          <a:xfrm>
            <a:off x="8095488" y="1737360"/>
            <a:ext cx="1630680" cy="502920"/>
          </a:xfrm>
          <a:prstGeom prst="roundRect">
            <a:avLst>
              <a:gd name="adj" fmla="val 18182"/>
            </a:avLst>
          </a:prstGeom>
          <a:solidFill>
            <a:schemeClr val="accent1"/>
          </a:solidFill>
          <a:ln w="12700">
            <a:solidFill>
              <a:schemeClr val="accent1"/>
            </a:solidFill>
            <a:prstDash val="solid"/>
          </a:ln>
        </p:spPr>
      </p:sp>
      <p:sp>
        <p:nvSpPr>
          <p:cNvPr id="18" name="Text 15"/>
          <p:cNvSpPr txBox="1"/>
          <p:nvPr/>
        </p:nvSpPr>
        <p:spPr>
          <a:xfrm>
            <a:off x="8095488"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Menu</a:t>
            </a:r>
            <a:endParaRPr lang="en-US" sz="1400" dirty="0"/>
          </a:p>
        </p:txBody>
      </p:sp>
      <p:sp>
        <p:nvSpPr>
          <p:cNvPr id="19" name="Shape 16"/>
          <p:cNvSpPr/>
          <p:nvPr/>
        </p:nvSpPr>
        <p:spPr>
          <a:xfrm>
            <a:off x="9744456" y="1988820"/>
            <a:ext cx="219456" cy="0"/>
          </a:xfrm>
          <a:prstGeom prst="line">
            <a:avLst/>
          </a:prstGeom>
          <a:noFill/>
          <a:ln w="22225">
            <a:solidFill>
              <a:schemeClr val="tx2"/>
            </a:solidFill>
            <a:prstDash val="solid"/>
            <a:tailEnd type="triangle"/>
          </a:ln>
        </p:spPr>
      </p:sp>
      <p:sp>
        <p:nvSpPr>
          <p:cNvPr id="20" name="Shape 17"/>
          <p:cNvSpPr/>
          <p:nvPr/>
        </p:nvSpPr>
        <p:spPr>
          <a:xfrm>
            <a:off x="9982200" y="1737360"/>
            <a:ext cx="1630680" cy="502920"/>
          </a:xfrm>
          <a:prstGeom prst="roundRect">
            <a:avLst>
              <a:gd name="adj" fmla="val 18182"/>
            </a:avLst>
          </a:prstGeom>
          <a:solidFill>
            <a:schemeClr val="tx1"/>
          </a:solidFill>
          <a:ln w="12700">
            <a:solidFill>
              <a:schemeClr val="tx1"/>
            </a:solidFill>
            <a:prstDash val="solid"/>
          </a:ln>
        </p:spPr>
      </p:sp>
      <p:sp>
        <p:nvSpPr>
          <p:cNvPr id="21" name="Text 18"/>
          <p:cNvSpPr txBox="1"/>
          <p:nvPr/>
        </p:nvSpPr>
        <p:spPr>
          <a:xfrm>
            <a:off x="9982200" y="1737360"/>
            <a:ext cx="16306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Profile</a:t>
            </a:r>
            <a:endParaRPr lang="en-US" sz="1400" dirty="0"/>
          </a:p>
        </p:txBody>
      </p:sp>
      <p:sp>
        <p:nvSpPr>
          <p:cNvPr id="22" name="Text 19"/>
          <p:cNvSpPr txBox="1"/>
          <p:nvPr/>
        </p:nvSpPr>
        <p:spPr>
          <a:xfrm>
            <a:off x="548640" y="2834640"/>
            <a:ext cx="694944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One app, two dashboards: staff accounts open the staff side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Status buttons call set_order_status, which only staff can use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Managers edit the menu, add categories and mark items sold out; row-level security blocks everyone else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Shift timer and Take a break pause order actions on this device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Seven unit tests cover totals, status values, parsing and Order again</a:t>
            </a:r>
            <a:endParaRPr lang="en-US" sz="1700" dirty="0"/>
          </a:p>
        </p:txBody>
      </p:sp>
      <p:pic>
        <p:nvPicPr>
          <p:cNvPr id="23" name="Image 0" descr="img/lamb_chops.jpg">    </p:cNvPr>
          <p:cNvPicPr>
            <a:picLocks noChangeAspect="1"/>
          </p:cNvPicPr>
          <p:nvPr/>
        </p:nvPicPr>
        <p:blipFill>
          <a:blip r:embed="rId1"/>
          <a:srcRect l="0" r="0" t="0" b="0"/>
          <a:stretch/>
        </p:blipFill>
        <p:spPr>
          <a:xfrm>
            <a:off x="7955280" y="2834640"/>
            <a:ext cx="3657600" cy="2743200"/>
          </a:xfrm>
          <a:prstGeom prst="rect">
            <a:avLst/>
          </a:prstGeom>
        </p:spPr>
      </p:pic>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LESEDI RAMOLAHLOANE</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Every requirement maps to code on both apps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743200"/>
                <a:gridCol w="2743200"/>
                <a:gridCol w="2926080"/>
                <a:gridCol w="2651760"/>
              </a:tblGrid>
              <a:tr h="56692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Requirement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Flutter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ASP.NET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Supabase</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FR-03 Cart and order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checkout.dart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ShopController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place_order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FR-04 Order status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Track Order screen</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Shop Track page</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Realtime on orders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FR-06 Manage menu</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staff.dart (manager)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ManagerController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items_write policy</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FR-08 Update status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staff.dart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StaffController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set_order_status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FR-11 Sales overview</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Manager home</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ManagerController Sales</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FR-12 Sync</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Realtime + 5 s timer</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4–5 s polling</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Shared schema</a:t>
                      </a:r>
                      <a:endParaRPr lang="en-US" sz="15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ext 2"/>
          <p:cNvSpPr txBox="1"/>
          <p:nvPr/>
        </p:nvSpPr>
        <p:spPr>
          <a:xfrm>
            <a:off x="548640" y="5943600"/>
            <a:ext cx="731520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Status for all rows: built, test pending.</a:t>
            </a:r>
            <a:endParaRPr lang="en-US" sz="14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PORTIA NKOTSENG SEFATSA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Testing: 15 cases, run by someone who did not build it</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097280"/>
                <a:gridCol w="6675120"/>
                <a:gridCol w="1554480"/>
                <a:gridCol w="173736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proves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Tester</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TC-05</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Order placed in Flutter appears on the web board in about 5 seconds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Portia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TC-06</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Status change on the web shows in Flutter in about 5 seconds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Portia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TC-08</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Customer A cannot read customer B’s orders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Neo</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TC-09</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customer account is refused on every staff route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Hlayiseka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TC-04</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tampered price or quantity is rejected or recalculated</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Neo</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TC-14</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Flutter app runs on a real Android phone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Portia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TC-15</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password or service_role key anywhere in the repository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Portia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after run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PRESENTED BY PORTIA NKOTSENG SEFATSA</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Doja’s evaluation and the risks still open</a:t>
            </a:r>
            <a:endParaRPr lang="en-US" sz="3400" dirty="0"/>
          </a:p>
        </p:txBody>
      </p:sp>
      <p:sp>
        <p:nvSpPr>
          <p:cNvPr id="5" name="Shape 2"/>
          <p:cNvSpPr/>
          <p:nvPr/>
        </p:nvSpPr>
        <p:spPr>
          <a:xfrm>
            <a:off x="548640" y="1691640"/>
            <a:ext cx="5394960" cy="4389120"/>
          </a:xfrm>
          <a:prstGeom prst="roundRect">
            <a:avLst>
              <a:gd name="adj" fmla="val 2500"/>
            </a:avLst>
          </a:prstGeom>
          <a:solidFill>
            <a:schemeClr val="bg2"/>
          </a:solidFill>
          <a:ln w="12700">
            <a:solidFill>
              <a:schemeClr val="bg2"/>
            </a:solidFill>
            <a:prstDash val="solid"/>
          </a:ln>
        </p:spPr>
      </p:sp>
      <p:sp>
        <p:nvSpPr>
          <p:cNvPr id="6" name="Text 3"/>
          <p:cNvSpPr txBox="1"/>
          <p:nvPr/>
        </p:nvSpPr>
        <p:spPr>
          <a:xfrm>
            <a:off x="822960" y="1828800"/>
            <a:ext cx="484632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Evaluation with Doja</a:t>
            </a:r>
            <a:endParaRPr lang="en-US" sz="2000" dirty="0"/>
          </a:p>
        </p:txBody>
      </p:sp>
      <p:sp>
        <p:nvSpPr>
          <p:cNvPr id="7" name="Text 4"/>
          <p:cNvSpPr txBox="1"/>
          <p:nvPr/>
        </p:nvSpPr>
        <p:spPr>
          <a:xfrm>
            <a:off x="822960" y="2331720"/>
            <a:ext cx="4846320" cy="3657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Show: order on the phone, board on the web, status back on the phone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Confirm: staff shift timer and kitchen queue are wanted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Confirm: wording says Order received, not payment</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Record: his feedback and any changes he asks for</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Planned for 28–29 October, if he is available</a:t>
            </a:r>
            <a:endParaRPr lang="en-US" sz="1700" dirty="0"/>
          </a:p>
        </p:txBody>
      </p:sp>
      <p:graphicFrame>
        <p:nvGraphicFramePr>
          <p:cNvPr id="8" name="Chart 0" descr=""/>
          <p:cNvGraphicFramePr/>
          <p:nvPr/>
        </p:nvGraphicFramePr>
        <p:xfrm>
          <a:off x="6217920" y="1691640"/>
          <a:ext cx="5394960" cy="4389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NEXT STEPS</a:t>
            </a:r>
            <a:endParaRPr lang="en-US" sz="1200" dirty="0"/>
          </a:p>
        </p:txBody>
      </p:sp>
      <p:sp>
        <p:nvSpPr>
          <p:cNvPr id="3" name="Text 0"/>
          <p:cNvSpPr/>
          <p:nvPr>
            <p:ph idx="100"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Eight days to the final release</a:t>
            </a:r>
            <a:endParaRPr lang="en-US" sz="3400" dirty="0"/>
          </a:p>
        </p:txBody>
      </p:sp>
      <p:sp>
        <p:nvSpPr>
          <p:cNvPr id="5" name="Shape 2"/>
          <p:cNvSpPr/>
          <p:nvPr/>
        </p:nvSpPr>
        <p:spPr>
          <a:xfrm>
            <a:off x="822960" y="2743200"/>
            <a:ext cx="10515600" cy="0"/>
          </a:xfrm>
          <a:prstGeom prst="line">
            <a:avLst/>
          </a:prstGeom>
          <a:noFill/>
          <a:ln w="25400">
            <a:solidFill>
              <a:schemeClr val="tx2"/>
            </a:solidFill>
            <a:prstDash val="solid"/>
          </a:ln>
        </p:spPr>
      </p:sp>
      <p:sp>
        <p:nvSpPr>
          <p:cNvPr id="6" name="Shape 3"/>
          <p:cNvSpPr/>
          <p:nvPr/>
        </p:nvSpPr>
        <p:spPr>
          <a:xfrm>
            <a:off x="1143000" y="2560320"/>
            <a:ext cx="365760" cy="365760"/>
          </a:xfrm>
          <a:prstGeom prst="ellipse">
            <a:avLst/>
          </a:prstGeom>
          <a:solidFill>
            <a:schemeClr val="accent3"/>
          </a:solidFill>
          <a:ln w="38100">
            <a:solidFill>
              <a:schemeClr val="bg1"/>
            </a:solidFill>
            <a:prstDash val="solid"/>
          </a:ln>
        </p:spPr>
      </p:sp>
      <p:sp>
        <p:nvSpPr>
          <p:cNvPr id="7" name="Text 4"/>
          <p:cNvSpPr txBox="1"/>
          <p:nvPr/>
        </p:nvSpPr>
        <p:spPr>
          <a:xfrm>
            <a:off x="54864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Thu 22</a:t>
            </a:r>
            <a:endParaRPr lang="en-US" sz="1500" dirty="0"/>
          </a:p>
        </p:txBody>
      </p:sp>
      <p:sp>
        <p:nvSpPr>
          <p:cNvPr id="8" name="Text 5"/>
          <p:cNvSpPr txBox="1"/>
          <p:nvPr/>
        </p:nvSpPr>
        <p:spPr>
          <a:xfrm>
            <a:off x="54864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Reset password, clean settings, branches created</a:t>
            </a:r>
            <a:endParaRPr lang="en-US" sz="1400" dirty="0"/>
          </a:p>
        </p:txBody>
      </p:sp>
      <p:sp>
        <p:nvSpPr>
          <p:cNvPr id="9" name="Shape 6"/>
          <p:cNvSpPr/>
          <p:nvPr/>
        </p:nvSpPr>
        <p:spPr>
          <a:xfrm>
            <a:off x="3017520" y="2560320"/>
            <a:ext cx="365760" cy="365760"/>
          </a:xfrm>
          <a:prstGeom prst="ellipse">
            <a:avLst/>
          </a:prstGeom>
          <a:solidFill>
            <a:schemeClr val="accent1"/>
          </a:solidFill>
          <a:ln w="38100">
            <a:solidFill>
              <a:schemeClr val="bg1"/>
            </a:solidFill>
            <a:prstDash val="solid"/>
          </a:ln>
        </p:spPr>
      </p:sp>
      <p:sp>
        <p:nvSpPr>
          <p:cNvPr id="10" name="Text 7"/>
          <p:cNvSpPr txBox="1"/>
          <p:nvPr/>
        </p:nvSpPr>
        <p:spPr>
          <a:xfrm>
            <a:off x="242316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Fri 23 – Sun 25</a:t>
            </a:r>
            <a:endParaRPr lang="en-US" sz="1500" dirty="0"/>
          </a:p>
        </p:txBody>
      </p:sp>
      <p:sp>
        <p:nvSpPr>
          <p:cNvPr id="11" name="Text 8"/>
          <p:cNvSpPr txBox="1"/>
          <p:nvPr/>
        </p:nvSpPr>
        <p:spPr>
          <a:xfrm>
            <a:off x="242316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Portfolios pushed, pull requests opened</a:t>
            </a:r>
            <a:endParaRPr lang="en-US" sz="1400" dirty="0"/>
          </a:p>
        </p:txBody>
      </p:sp>
      <p:sp>
        <p:nvSpPr>
          <p:cNvPr id="12" name="Shape 9"/>
          <p:cNvSpPr/>
          <p:nvPr/>
        </p:nvSpPr>
        <p:spPr>
          <a:xfrm>
            <a:off x="4892040" y="2560320"/>
            <a:ext cx="365760" cy="365760"/>
          </a:xfrm>
          <a:prstGeom prst="ellipse">
            <a:avLst/>
          </a:prstGeom>
          <a:solidFill>
            <a:schemeClr val="accent1"/>
          </a:solidFill>
          <a:ln w="38100">
            <a:solidFill>
              <a:schemeClr val="bg1"/>
            </a:solidFill>
            <a:prstDash val="solid"/>
          </a:ln>
        </p:spPr>
      </p:sp>
      <p:sp>
        <p:nvSpPr>
          <p:cNvPr id="13" name="Text 10"/>
          <p:cNvSpPr txBox="1"/>
          <p:nvPr/>
        </p:nvSpPr>
        <p:spPr>
          <a:xfrm>
            <a:off x="429768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Mon 26</a:t>
            </a:r>
            <a:endParaRPr lang="en-US" sz="1500" dirty="0"/>
          </a:p>
        </p:txBody>
      </p:sp>
      <p:sp>
        <p:nvSpPr>
          <p:cNvPr id="14" name="Text 11"/>
          <p:cNvSpPr txBox="1"/>
          <p:nvPr/>
        </p:nvSpPr>
        <p:spPr>
          <a:xfrm>
            <a:off x="429768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Reviews and merges, credential check</a:t>
            </a:r>
            <a:endParaRPr lang="en-US" sz="1400" dirty="0"/>
          </a:p>
        </p:txBody>
      </p:sp>
      <p:sp>
        <p:nvSpPr>
          <p:cNvPr id="15" name="Shape 12"/>
          <p:cNvSpPr/>
          <p:nvPr/>
        </p:nvSpPr>
        <p:spPr>
          <a:xfrm>
            <a:off x="6766560" y="2560320"/>
            <a:ext cx="365760" cy="365760"/>
          </a:xfrm>
          <a:prstGeom prst="ellipse">
            <a:avLst/>
          </a:prstGeom>
          <a:solidFill>
            <a:schemeClr val="accent1"/>
          </a:solidFill>
          <a:ln w="38100">
            <a:solidFill>
              <a:schemeClr val="bg1"/>
            </a:solidFill>
            <a:prstDash val="solid"/>
          </a:ln>
        </p:spPr>
      </p:sp>
      <p:sp>
        <p:nvSpPr>
          <p:cNvPr id="16" name="Text 13"/>
          <p:cNvSpPr txBox="1"/>
          <p:nvPr/>
        </p:nvSpPr>
        <p:spPr>
          <a:xfrm>
            <a:off x="617220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Tue 27 – Wed 28</a:t>
            </a:r>
            <a:endParaRPr lang="en-US" sz="1500" dirty="0"/>
          </a:p>
        </p:txBody>
      </p:sp>
      <p:sp>
        <p:nvSpPr>
          <p:cNvPr id="17" name="Text 14"/>
          <p:cNvSpPr txBox="1"/>
          <p:nvPr/>
        </p:nvSpPr>
        <p:spPr>
          <a:xfrm>
            <a:off x="617220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Tests run, bugs fixed, Sprint 2 closes</a:t>
            </a:r>
            <a:endParaRPr lang="en-US" sz="1400" dirty="0"/>
          </a:p>
        </p:txBody>
      </p:sp>
      <p:sp>
        <p:nvSpPr>
          <p:cNvPr id="18" name="Shape 15"/>
          <p:cNvSpPr/>
          <p:nvPr/>
        </p:nvSpPr>
        <p:spPr>
          <a:xfrm>
            <a:off x="8641080" y="2560320"/>
            <a:ext cx="365760" cy="365760"/>
          </a:xfrm>
          <a:prstGeom prst="ellipse">
            <a:avLst/>
          </a:prstGeom>
          <a:solidFill>
            <a:schemeClr val="accent1"/>
          </a:solidFill>
          <a:ln w="38100">
            <a:solidFill>
              <a:schemeClr val="bg1"/>
            </a:solidFill>
            <a:prstDash val="solid"/>
          </a:ln>
        </p:spPr>
      </p:sp>
      <p:sp>
        <p:nvSpPr>
          <p:cNvPr id="19" name="Text 16"/>
          <p:cNvSpPr txBox="1"/>
          <p:nvPr/>
        </p:nvSpPr>
        <p:spPr>
          <a:xfrm>
            <a:off x="804672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Thu 29</a:t>
            </a:r>
            <a:endParaRPr lang="en-US" sz="1500" dirty="0"/>
          </a:p>
        </p:txBody>
      </p:sp>
      <p:sp>
        <p:nvSpPr>
          <p:cNvPr id="20" name="Text 17"/>
          <p:cNvSpPr txBox="1"/>
          <p:nvPr/>
        </p:nvSpPr>
        <p:spPr>
          <a:xfrm>
            <a:off x="804672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Doja evaluation, full rehearsal</a:t>
            </a:r>
            <a:endParaRPr lang="en-US" sz="1400" dirty="0"/>
          </a:p>
        </p:txBody>
      </p:sp>
      <p:sp>
        <p:nvSpPr>
          <p:cNvPr id="21" name="Shape 18"/>
          <p:cNvSpPr/>
          <p:nvPr/>
        </p:nvSpPr>
        <p:spPr>
          <a:xfrm>
            <a:off x="10515600" y="2560320"/>
            <a:ext cx="365760" cy="365760"/>
          </a:xfrm>
          <a:prstGeom prst="ellipse">
            <a:avLst/>
          </a:prstGeom>
          <a:solidFill>
            <a:schemeClr val="accent1"/>
          </a:solidFill>
          <a:ln w="38100">
            <a:solidFill>
              <a:schemeClr val="bg1"/>
            </a:solidFill>
            <a:prstDash val="solid"/>
          </a:ln>
        </p:spPr>
      </p:sp>
      <p:sp>
        <p:nvSpPr>
          <p:cNvPr id="22" name="Text 19"/>
          <p:cNvSpPr txBox="1"/>
          <p:nvPr/>
        </p:nvSpPr>
        <p:spPr>
          <a:xfrm>
            <a:off x="9921240" y="1828800"/>
            <a:ext cx="1554480" cy="548640"/>
          </a:xfrm>
          <a:prstGeom prst="rect">
            <a:avLst/>
          </a:prstGeom>
          <a:noFill/>
          <a:ln/>
        </p:spPr>
        <p:txBody>
          <a:bodyPr wrap="square" lIns="0" tIns="0" rIns="0" bIns="0" rtlCol="0" anchor="b"/>
          <a:lstStyle/>
          <a:p>
            <a:pPr algn="ctr" indent="0" marL="0">
              <a:buNone/>
            </a:pPr>
            <a:r>
              <a:rPr lang="en-US" sz="1500" b="1" dirty="0">
                <a:solidFill>
                  <a:schemeClr val="tx1"/>
                </a:solidFill>
                <a:latin typeface="Cambria" pitchFamily="34" charset="0"/>
                <a:ea typeface="Cambria" pitchFamily="34" charset="-122"/>
                <a:cs typeface="Cambria" pitchFamily="34" charset="-120"/>
              </a:rPr>
              <a:t>Fri 30</a:t>
            </a:r>
            <a:endParaRPr lang="en-US" sz="1500" dirty="0"/>
          </a:p>
        </p:txBody>
      </p:sp>
      <p:sp>
        <p:nvSpPr>
          <p:cNvPr id="23" name="Text 20"/>
          <p:cNvSpPr txBox="1"/>
          <p:nvPr/>
        </p:nvSpPr>
        <p:spPr>
          <a:xfrm>
            <a:off x="9921240" y="3154680"/>
            <a:ext cx="1645920" cy="20116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Release tag, final SRS and tracker, presentation</a:t>
            </a:r>
            <a:endParaRPr lang="en-US" sz="1400" dirty="0"/>
          </a:p>
        </p:txBody>
      </p:sp>
      <p:sp>
        <p:nvSpPr>
          <p:cNvPr id="24" name="Text 21"/>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The credential fix comes first: nobody can push safely until it is done.</a:t>
            </a:r>
            <a:endParaRPr lang="en-US" sz="1600" dirty="0"/>
          </a:p>
        </p:txBody>
      </p:sp>
      <p:sp>
        <p:nvSpPr>
          <p:cNvPr id="25" name="Slide Number Placeholder 0"/>
          <p:cNvSpPr>
            <a:spLocks noGrp="1"/>
          </p:cNvSpPr>
          <p:nvPr>
            <p:ph type="sldNum" sz="quarter" idx="4294967295"/>
          </p:nvPr>
        </p:nvSpPr>
        <p:spPr>
          <a:xfrm>
            <a:off x="1124712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img/beef_ribs.jpg">    </p:cNvPr>
          <p:cNvPicPr>
            <a:picLocks noChangeAspect="1"/>
          </p:cNvPicPr>
          <p:nvPr/>
        </p:nvPicPr>
        <p:blipFill>
          <a:blip r:embed="rId1"/>
          <a:srcRect l="0" r="0" t="0" b="0"/>
          <a:stretch/>
        </p:blipFill>
        <p:spPr>
          <a:xfrm>
            <a:off x="6949440" y="0"/>
            <a:ext cx="5239512" cy="6858000"/>
          </a:xfrm>
          <a:prstGeom prst="rect">
            <a:avLst/>
          </a:prstGeom>
        </p:spPr>
      </p:pic>
      <p:sp>
        <p:nvSpPr>
          <p:cNvPr id="3" name="Text 0"/>
          <p:cNvSpPr txBox="1"/>
          <p:nvPr/>
        </p:nvSpPr>
        <p:spPr>
          <a:xfrm>
            <a:off x="640080" y="2103120"/>
            <a:ext cx="603504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4" name="Text 1"/>
          <p:cNvSpPr txBox="1"/>
          <p:nvPr/>
        </p:nvSpPr>
        <p:spPr>
          <a:xfrm>
            <a:off x="640080" y="3200400"/>
            <a:ext cx="6035040" cy="4572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Nama Nameng — Group 4: Digital Vanguard</a:t>
            </a:r>
            <a:endParaRPr lang="en-US" sz="2000" dirty="0"/>
          </a:p>
        </p:txBody>
      </p:sp>
      <p:sp>
        <p:nvSpPr>
          <p:cNvPr id="5" name="Text 2"/>
          <p:cNvSpPr txBox="1"/>
          <p:nvPr/>
        </p:nvSpPr>
        <p:spPr>
          <a:xfrm>
            <a:off x="640080" y="3840480"/>
            <a:ext cx="6035040" cy="45720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github.com/Lekhelebana/WIL-Project</a:t>
            </a:r>
            <a:endParaRPr lang="en-US" sz="1800" dirty="0"/>
          </a:p>
        </p:txBody>
      </p:sp>
      <p:sp>
        <p:nvSpPr>
          <p:cNvPr id="6" name="Text 3"/>
          <p:cNvSpPr txBox="1"/>
          <p:nvPr/>
        </p:nvSpPr>
        <p:spPr>
          <a:xfrm>
            <a:off x="640080" y="4937760"/>
            <a:ext cx="6035040" cy="548640"/>
          </a:xfrm>
          <a:prstGeom prst="rect">
            <a:avLst/>
          </a:prstGeom>
          <a:noFill/>
          <a:ln/>
        </p:spPr>
        <p:txBody>
          <a:bodyPr wrap="square" lIns="0" tIns="0" rIns="0" bIns="0" rtlCol="0" anchor="t"/>
          <a:lstStyle/>
          <a:p>
            <a:pPr indent="0" marL="0">
              <a:buNone/>
            </a:pPr>
            <a:r>
              <a:rPr lang="en-US" sz="2400" b="1" dirty="0">
                <a:solidFill>
                  <a:schemeClr val="accent1"/>
                </a:solidFill>
                <a:latin typeface="Calibri" pitchFamily="34" charset="0"/>
                <a:ea typeface="Calibri" pitchFamily="34" charset="-122"/>
                <a:cs typeface="Calibri" pitchFamily="34" charset="-120"/>
              </a:rPr>
              <a:t>Questions?</a:t>
            </a:r>
            <a:endParaRPr lang="en-US" sz="2400" dirty="0"/>
          </a:p>
        </p:txBody>
      </p:sp>
    </p:spTree>
  </p:cSld>
  <p:clrMapOvr>
    <a:masterClrMapping/>
  </p:clrMapOvr>
</p:sld>
</file>

<file path=ppt/theme/theme1.xml><?xml version="1.0" encoding="utf-8"?>
<a:theme xmlns:a="http://schemas.openxmlformats.org/drawingml/2006/main" name="Nama Nameng">
  <a:themeElements>
    <a:clrScheme name="Nama Nameng">
      <a:dk1>
        <a:srgbClr val="241A14"/>
      </a:dk1>
      <a:lt1>
        <a:srgbClr val="FFFFFF"/>
      </a:lt1>
      <a:dk2>
        <a:srgbClr val="6B5D53"/>
      </a:dk2>
      <a:lt2>
        <a:srgbClr val="F3EFEB"/>
      </a:lt2>
      <a:accent1>
        <a:srgbClr val="E8590C"/>
      </a:accent1>
      <a:accent2>
        <a:srgbClr val="2F7D5B"/>
      </a:accent2>
      <a:accent3>
        <a:srgbClr val="B83227"/>
      </a:accent3>
      <a:accent4>
        <a:srgbClr val="F2A65A"/>
      </a:accent4>
      <a:accent5>
        <a:srgbClr val="4A6FA5"/>
      </a:accent5>
      <a:accent6>
        <a:srgbClr val="8C7B6E"/>
      </a:accent6>
      <a:hlink>
        <a:srgbClr val="E8590C"/>
      </a:hlink>
      <a:folHlink>
        <a:srgbClr val="6B5D53"/>
      </a:folHlink>
    </a:clrScheme>
    <a:fontScheme name="Nama Name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Nama Nameng — Phase 3 Group Presentation</dc:title>
  <dc:subject>PptxGenJS Presentation</dc:subject>
  <dc:creator>Group 4 — Digital Vanguard</dc:creator>
  <cp:lastModifiedBy>Group 4 — Digital Vanguard</cp:lastModifiedBy>
  <cp:revision>1</cp:revision>
  <dcterms:created xsi:type="dcterms:W3CDTF">2026-10-22T10:49:54Z</dcterms:created>
  <dcterms:modified xsi:type="dcterms:W3CDTF">2026-10-22T10:49:54Z</dcterms:modified>
</cp:coreProperties>
</file>